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14" autoAdjust="0"/>
    <p:restoredTop sz="94660"/>
  </p:normalViewPr>
  <p:slideViewPr>
    <p:cSldViewPr snapToGrid="0">
      <p:cViewPr varScale="1">
        <p:scale>
          <a:sx n="60" d="100"/>
          <a:sy n="60" d="100"/>
        </p:scale>
        <p:origin x="96" y="1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 smtClean="0"/>
              <a:t>マスター サブタイトルの書式設定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91B90-8A79-412C-89FE-F2A94E6B2FAF}" type="datetimeFigureOut">
              <a:rPr kumimoji="1" lang="ja-JP" altLang="en-US" smtClean="0"/>
              <a:t>2019/12/21</a:t>
            </a:fld>
            <a:endParaRPr kumimoji="1" lang="ja-JP" altLang="en-US" dirty="0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C2ED5E-BF21-43EA-9ED1-DA2F79AEF6DB}" type="slidenum">
              <a:rPr kumimoji="1" lang="ja-JP" altLang="en-US" smtClean="0"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7282114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91B90-8A79-412C-89FE-F2A94E6B2FAF}" type="datetimeFigureOut">
              <a:rPr kumimoji="1" lang="ja-JP" altLang="en-US" smtClean="0"/>
              <a:t>2019/12/21</a:t>
            </a:fld>
            <a:endParaRPr kumimoji="1" lang="ja-JP" altLang="en-US" dirty="0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C2ED5E-BF21-43EA-9ED1-DA2F79AEF6DB}" type="slidenum">
              <a:rPr kumimoji="1" lang="ja-JP" altLang="en-US" smtClean="0"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1691943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91B90-8A79-412C-89FE-F2A94E6B2FAF}" type="datetimeFigureOut">
              <a:rPr kumimoji="1" lang="ja-JP" altLang="en-US" smtClean="0"/>
              <a:t>2019/12/21</a:t>
            </a:fld>
            <a:endParaRPr kumimoji="1" lang="ja-JP" altLang="en-US" dirty="0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C2ED5E-BF21-43EA-9ED1-DA2F79AEF6DB}" type="slidenum">
              <a:rPr kumimoji="1" lang="ja-JP" altLang="en-US" smtClean="0"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450609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91B90-8A79-412C-89FE-F2A94E6B2FAF}" type="datetimeFigureOut">
              <a:rPr kumimoji="1" lang="ja-JP" altLang="en-US" smtClean="0"/>
              <a:t>2019/12/21</a:t>
            </a:fld>
            <a:endParaRPr kumimoji="1" lang="ja-JP" altLang="en-US" dirty="0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C2ED5E-BF21-43EA-9ED1-DA2F79AEF6DB}" type="slidenum">
              <a:rPr kumimoji="1" lang="ja-JP" altLang="en-US" smtClean="0"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2776428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7" name="日付プレースホルダー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91B90-8A79-412C-89FE-F2A94E6B2FAF}" type="datetimeFigureOut">
              <a:rPr kumimoji="1" lang="ja-JP" altLang="en-US" smtClean="0"/>
              <a:t>2019/12/21</a:t>
            </a:fld>
            <a:endParaRPr kumimoji="1" lang="ja-JP" altLang="en-US" dirty="0"/>
          </a:p>
        </p:txBody>
      </p:sp>
      <p:sp>
        <p:nvSpPr>
          <p:cNvPr id="8" name="フッター プレースホルダー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9" name="スライド番号プレースホルダー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C2ED5E-BF21-43EA-9ED1-DA2F79AEF6DB}" type="slidenum">
              <a:rPr kumimoji="1" lang="ja-JP" altLang="en-US" smtClean="0"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9822104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91B90-8A79-412C-89FE-F2A94E6B2FAF}" type="datetimeFigureOut">
              <a:rPr kumimoji="1" lang="ja-JP" altLang="en-US" smtClean="0"/>
              <a:t>2019/12/21</a:t>
            </a:fld>
            <a:endParaRPr kumimoji="1" lang="ja-JP" altLang="en-US" dirty="0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C2ED5E-BF21-43EA-9ED1-DA2F79AEF6DB}" type="slidenum">
              <a:rPr kumimoji="1" lang="ja-JP" altLang="en-US" smtClean="0"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2956557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91B90-8A79-412C-89FE-F2A94E6B2FAF}" type="datetimeFigureOut">
              <a:rPr kumimoji="1" lang="ja-JP" altLang="en-US" smtClean="0"/>
              <a:t>2019/12/21</a:t>
            </a:fld>
            <a:endParaRPr kumimoji="1" lang="ja-JP" altLang="en-US" dirty="0"/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C2ED5E-BF21-43EA-9ED1-DA2F79AEF6DB}" type="slidenum">
              <a:rPr kumimoji="1" lang="ja-JP" altLang="en-US" smtClean="0"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8896331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&#10;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91B90-8A79-412C-89FE-F2A94E6B2FAF}" type="datetimeFigureOut">
              <a:rPr kumimoji="1" lang="ja-JP" altLang="en-US" smtClean="0"/>
              <a:t>2019/12/21</a:t>
            </a:fld>
            <a:endParaRPr kumimoji="1" lang="ja-JP" altLang="en-US" dirty="0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C2ED5E-BF21-43EA-9ED1-DA2F79AEF6DB}" type="slidenum">
              <a:rPr kumimoji="1" lang="ja-JP" altLang="en-US" smtClean="0"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0336932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図プレースホルダー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 dirty="0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91B90-8A79-412C-89FE-F2A94E6B2FAF}" type="datetimeFigureOut">
              <a:rPr kumimoji="1" lang="ja-JP" altLang="en-US" smtClean="0"/>
              <a:t>2019/12/21</a:t>
            </a:fld>
            <a:endParaRPr kumimoji="1" lang="ja-JP" altLang="en-US" dirty="0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C2ED5E-BF21-43EA-9ED1-DA2F79AEF6DB}" type="slidenum">
              <a:rPr kumimoji="1" lang="ja-JP" altLang="en-US" smtClean="0"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4069944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91B90-8A79-412C-89FE-F2A94E6B2FAF}" type="datetimeFigureOut">
              <a:rPr kumimoji="1" lang="ja-JP" altLang="en-US" smtClean="0"/>
              <a:t>2019/12/21</a:t>
            </a:fld>
            <a:endParaRPr kumimoji="1" lang="ja-JP" altLang="en-US" dirty="0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C2ED5E-BF21-43EA-9ED1-DA2F79AEF6DB}" type="slidenum">
              <a:rPr kumimoji="1" lang="ja-JP" altLang="en-US" smtClean="0"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4296095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91B90-8A79-412C-89FE-F2A94E6B2FAF}" type="datetimeFigureOut">
              <a:rPr kumimoji="1" lang="ja-JP" altLang="en-US" smtClean="0"/>
              <a:t>2019/12/21</a:t>
            </a:fld>
            <a:endParaRPr kumimoji="1" lang="ja-JP" altLang="en-US" dirty="0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C2ED5E-BF21-43EA-9ED1-DA2F79AEF6DB}" type="slidenum">
              <a:rPr kumimoji="1" lang="ja-JP" altLang="en-US" smtClean="0"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7118379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A391B90-8A79-412C-89FE-F2A94E6B2FAF}" type="datetimeFigureOut">
              <a:rPr kumimoji="1" lang="ja-JP" altLang="en-US" smtClean="0"/>
              <a:t>2019/12/21</a:t>
            </a:fld>
            <a:endParaRPr kumimoji="1" lang="ja-JP" altLang="en-US" dirty="0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 dirty="0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8C2ED5E-BF21-43EA-9ED1-DA2F79AEF6DB}" type="slidenum">
              <a:rPr kumimoji="1" lang="ja-JP" altLang="en-US" smtClean="0"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6174015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jpe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17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jpeg"/><Relationship Id="rId7" Type="http://schemas.openxmlformats.org/officeDocument/2006/relationships/image" Target="../media/image24.pn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38.png"/><Relationship Id="rId7" Type="http://schemas.openxmlformats.org/officeDocument/2006/relationships/image" Target="../media/image42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3996" y="4727559"/>
            <a:ext cx="1787456" cy="1150723"/>
          </a:xfrm>
          <a:prstGeom prst="rect">
            <a:avLst/>
          </a:prstGeom>
          <a:ln w="12700">
            <a:noFill/>
          </a:ln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3757" y="2602763"/>
            <a:ext cx="1496541" cy="1496541"/>
          </a:xfrm>
          <a:prstGeom prst="rect">
            <a:avLst/>
          </a:prstGeom>
          <a:ln w="12700">
            <a:solidFill>
              <a:schemeClr val="accent1"/>
            </a:solidFill>
          </a:ln>
        </p:spPr>
      </p:pic>
      <p:pic>
        <p:nvPicPr>
          <p:cNvPr id="6" name="図 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112" y="244210"/>
            <a:ext cx="1716045" cy="1716045"/>
          </a:xfrm>
          <a:prstGeom prst="rect">
            <a:avLst/>
          </a:prstGeom>
          <a:ln w="12700">
            <a:solidFill>
              <a:schemeClr val="accent1"/>
            </a:solidFill>
          </a:ln>
        </p:spPr>
      </p:pic>
      <p:pic>
        <p:nvPicPr>
          <p:cNvPr id="8" name="図 7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4901" y="175695"/>
            <a:ext cx="1853074" cy="1853074"/>
          </a:xfrm>
          <a:prstGeom prst="rect">
            <a:avLst/>
          </a:prstGeom>
          <a:ln w="12700">
            <a:solidFill>
              <a:schemeClr val="accent1"/>
            </a:solidFill>
          </a:ln>
        </p:spPr>
      </p:pic>
      <p:pic>
        <p:nvPicPr>
          <p:cNvPr id="9" name="図 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3651" y="2370126"/>
            <a:ext cx="1931773" cy="1931773"/>
          </a:xfrm>
          <a:prstGeom prst="rect">
            <a:avLst/>
          </a:prstGeom>
          <a:ln w="12700">
            <a:noFill/>
          </a:ln>
        </p:spPr>
      </p:pic>
      <p:pic>
        <p:nvPicPr>
          <p:cNvPr id="10" name="図 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0027" y="4409227"/>
            <a:ext cx="1430830" cy="1430830"/>
          </a:xfrm>
          <a:prstGeom prst="rect">
            <a:avLst/>
          </a:prstGeom>
          <a:ln w="12700">
            <a:noFill/>
          </a:ln>
        </p:spPr>
      </p:pic>
      <p:cxnSp>
        <p:nvCxnSpPr>
          <p:cNvPr id="12" name="直線コネクタ 11"/>
          <p:cNvCxnSpPr>
            <a:stCxn id="47" idx="3"/>
            <a:endCxn id="10" idx="1"/>
          </p:cNvCxnSpPr>
          <p:nvPr/>
        </p:nvCxnSpPr>
        <p:spPr>
          <a:xfrm flipV="1">
            <a:off x="6501413" y="5124642"/>
            <a:ext cx="93861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線コネクタ 14"/>
          <p:cNvCxnSpPr>
            <a:stCxn id="5" idx="3"/>
            <a:endCxn id="40" idx="1"/>
          </p:cNvCxnSpPr>
          <p:nvPr/>
        </p:nvCxnSpPr>
        <p:spPr>
          <a:xfrm>
            <a:off x="3640298" y="3351034"/>
            <a:ext cx="866951" cy="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線コネクタ 16"/>
          <p:cNvCxnSpPr>
            <a:stCxn id="6" idx="3"/>
            <a:endCxn id="8" idx="1"/>
          </p:cNvCxnSpPr>
          <p:nvPr/>
        </p:nvCxnSpPr>
        <p:spPr>
          <a:xfrm flipV="1">
            <a:off x="6331157" y="1102232"/>
            <a:ext cx="793744" cy="1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線コネクタ 18"/>
          <p:cNvCxnSpPr>
            <a:stCxn id="6" idx="2"/>
            <a:endCxn id="40" idx="0"/>
          </p:cNvCxnSpPr>
          <p:nvPr/>
        </p:nvCxnSpPr>
        <p:spPr>
          <a:xfrm>
            <a:off x="5473135" y="1960255"/>
            <a:ext cx="0" cy="424893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線コネクタ 20"/>
          <p:cNvCxnSpPr>
            <a:endCxn id="4" idx="0"/>
          </p:cNvCxnSpPr>
          <p:nvPr/>
        </p:nvCxnSpPr>
        <p:spPr>
          <a:xfrm>
            <a:off x="5538488" y="4451945"/>
            <a:ext cx="0" cy="275614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テキスト ボックス 24"/>
          <p:cNvSpPr txBox="1"/>
          <p:nvPr/>
        </p:nvSpPr>
        <p:spPr>
          <a:xfrm>
            <a:off x="6653966" y="5106141"/>
            <a:ext cx="633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USB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テキスト ボックス 26"/>
          <p:cNvSpPr txBox="1"/>
          <p:nvPr/>
        </p:nvSpPr>
        <p:spPr>
          <a:xfrm>
            <a:off x="3809812" y="2981701"/>
            <a:ext cx="530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I2C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テキスト ボックス 27"/>
          <p:cNvSpPr txBox="1"/>
          <p:nvPr/>
        </p:nvSpPr>
        <p:spPr>
          <a:xfrm>
            <a:off x="5512444" y="1988035"/>
            <a:ext cx="7991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UART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テキスト ボックス 29"/>
          <p:cNvSpPr txBox="1"/>
          <p:nvPr/>
        </p:nvSpPr>
        <p:spPr>
          <a:xfrm>
            <a:off x="6468983" y="1102232"/>
            <a:ext cx="5180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SPI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テキスト ボックス 30"/>
          <p:cNvSpPr txBox="1"/>
          <p:nvPr/>
        </p:nvSpPr>
        <p:spPr>
          <a:xfrm>
            <a:off x="7433319" y="1673031"/>
            <a:ext cx="12362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DWM1000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テキスト ボックス 31"/>
          <p:cNvSpPr txBox="1"/>
          <p:nvPr/>
        </p:nvSpPr>
        <p:spPr>
          <a:xfrm>
            <a:off x="4553651" y="1583434"/>
            <a:ext cx="18389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Arduino</a:t>
            </a:r>
            <a:r>
              <a:rPr lang="ja-JP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Pro Mini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テキスト ボックス 32"/>
          <p:cNvSpPr txBox="1"/>
          <p:nvPr/>
        </p:nvSpPr>
        <p:spPr>
          <a:xfrm>
            <a:off x="2313429" y="3784496"/>
            <a:ext cx="1146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VL53L0X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テキスト ボックス 33"/>
          <p:cNvSpPr txBox="1"/>
          <p:nvPr/>
        </p:nvSpPr>
        <p:spPr>
          <a:xfrm>
            <a:off x="5059724" y="4082613"/>
            <a:ext cx="10141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NAVIO2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テキスト ボックス 34"/>
          <p:cNvSpPr txBox="1"/>
          <p:nvPr/>
        </p:nvSpPr>
        <p:spPr>
          <a:xfrm>
            <a:off x="4885868" y="5851791"/>
            <a:ext cx="13837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Raspberry Pi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テキスト ボックス 35"/>
          <p:cNvSpPr txBox="1"/>
          <p:nvPr/>
        </p:nvSpPr>
        <p:spPr>
          <a:xfrm>
            <a:off x="7682073" y="5840057"/>
            <a:ext cx="954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Pixracer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正方形/長方形 39"/>
          <p:cNvSpPr/>
          <p:nvPr/>
        </p:nvSpPr>
        <p:spPr>
          <a:xfrm>
            <a:off x="4507249" y="2385148"/>
            <a:ext cx="2041832" cy="2075097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7" name="正方形/長方形 46"/>
          <p:cNvSpPr/>
          <p:nvPr/>
        </p:nvSpPr>
        <p:spPr>
          <a:xfrm>
            <a:off x="4647542" y="4719259"/>
            <a:ext cx="1853871" cy="150168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1" name="正方形/長方形 50"/>
          <p:cNvSpPr/>
          <p:nvPr/>
        </p:nvSpPr>
        <p:spPr>
          <a:xfrm>
            <a:off x="7450240" y="4409227"/>
            <a:ext cx="1420618" cy="180016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テキスト ボックス 1"/>
          <p:cNvSpPr txBox="1"/>
          <p:nvPr/>
        </p:nvSpPr>
        <p:spPr>
          <a:xfrm>
            <a:off x="7169457" y="1994517"/>
            <a:ext cx="19351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UWB antenna</a:t>
            </a:r>
            <a:endParaRPr kumimoji="1" lang="ja-JP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テキスト ボックス 2"/>
          <p:cNvSpPr txBox="1"/>
          <p:nvPr/>
        </p:nvSpPr>
        <p:spPr>
          <a:xfrm>
            <a:off x="3027163" y="1923103"/>
            <a:ext cx="21987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Micro controller</a:t>
            </a:r>
            <a:endParaRPr kumimoji="1" lang="ja-JP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テキスト ボックス 6"/>
          <p:cNvSpPr txBox="1"/>
          <p:nvPr/>
        </p:nvSpPr>
        <p:spPr>
          <a:xfrm>
            <a:off x="1843080" y="4051617"/>
            <a:ext cx="212429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Distance sensor</a:t>
            </a:r>
            <a:endParaRPr kumimoji="1" lang="ja-JP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テキスト ボックス 10"/>
          <p:cNvSpPr txBox="1"/>
          <p:nvPr/>
        </p:nvSpPr>
        <p:spPr>
          <a:xfrm>
            <a:off x="7169457" y="6139870"/>
            <a:ext cx="21959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Fright controller</a:t>
            </a:r>
            <a:endParaRPr kumimoji="1" lang="ja-JP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テキスト ボックス 19"/>
          <p:cNvSpPr txBox="1"/>
          <p:nvPr/>
        </p:nvSpPr>
        <p:spPr>
          <a:xfrm>
            <a:off x="4553651" y="6139870"/>
            <a:ext cx="20714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Main computer</a:t>
            </a:r>
            <a:endParaRPr kumimoji="1" lang="ja-JP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テキスト ボックス 21"/>
          <p:cNvSpPr txBox="1"/>
          <p:nvPr/>
        </p:nvSpPr>
        <p:spPr>
          <a:xfrm>
            <a:off x="6507685" y="3929414"/>
            <a:ext cx="18363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Sensor board</a:t>
            </a:r>
            <a:endParaRPr kumimoji="1" lang="ja-JP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12024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 txBox="1"/>
          <p:nvPr/>
        </p:nvSpPr>
        <p:spPr>
          <a:xfrm>
            <a:off x="4767900" y="1357031"/>
            <a:ext cx="158889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UWB Modules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テキスト ボックス 2"/>
              <p:cNvSpPr txBox="1"/>
              <p:nvPr/>
            </p:nvSpPr>
            <p:spPr>
              <a:xfrm>
                <a:off x="3644741" y="2499695"/>
                <a:ext cx="3835216" cy="68634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estimate p</a:t>
                </a:r>
                <a:r>
                  <a:rPr kumimoji="1"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osition, velocity and </a:t>
                </a:r>
                <a:r>
                  <a:rPr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attitude</a:t>
                </a:r>
                <a:r>
                  <a:rPr kumimoji="1"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  <a:endParaRPr lang="en-US" altLang="ja-JP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</m:e>
                      </m:acc>
                      <m:r>
                        <a:rPr kumimoji="1" lang="en-US" altLang="ja-JP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acc>
                        <m:accPr>
                          <m:chr m:val="̂"/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𝑦</m:t>
                          </m:r>
                        </m:e>
                      </m:acc>
                      <m:r>
                        <a:rPr kumimoji="1" lang="en-US" altLang="ja-JP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acc>
                        <m:accPr>
                          <m:chr m:val="̂"/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𝑧</m:t>
                          </m:r>
                        </m:e>
                      </m:acc>
                      <m:r>
                        <a:rPr kumimoji="1" lang="en-US" altLang="ja-JP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acc>
                        <m:accPr>
                          <m:chr m:val="̂"/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kumimoji="1" lang="en-US" altLang="ja-JP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kumimoji="1" lang="en-US" altLang="ja-JP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sub>
                          </m:sSub>
                        </m:e>
                      </m:acc>
                      <m:r>
                        <a:rPr kumimoji="1" lang="en-US" altLang="ja-JP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acc>
                        <m:accPr>
                          <m:chr m:val="̂"/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kumimoji="1" lang="en-US" altLang="ja-JP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kumimoji="1" lang="en-US" altLang="ja-JP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𝑦</m:t>
                              </m:r>
                            </m:sub>
                          </m:sSub>
                        </m:e>
                      </m:acc>
                      <m:r>
                        <a:rPr kumimoji="1" lang="en-US" altLang="ja-JP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acc>
                        <m:accPr>
                          <m:chr m:val="̂"/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kumimoji="1" lang="en-US" altLang="ja-JP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kumimoji="1" lang="en-US" altLang="ja-JP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𝑧</m:t>
                              </m:r>
                            </m:sub>
                          </m:sSub>
                        </m:e>
                      </m:acc>
                      <m:r>
                        <a:rPr kumimoji="1" lang="en-US" altLang="ja-JP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acc>
                        <m:accPr>
                          <m:chr m:val="̂"/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r>
                            <a:rPr kumimoji="1" lang="ja-JP" alt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𝜙</m:t>
                          </m:r>
                        </m:e>
                      </m:acc>
                      <m:r>
                        <a:rPr kumimoji="1" lang="en-US" altLang="ja-JP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acc>
                        <m:accPr>
                          <m:chr m:val="̂"/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r>
                            <a:rPr kumimoji="1" lang="ja-JP" alt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𝜃</m:t>
                          </m:r>
                        </m:e>
                      </m:acc>
                      <m:r>
                        <a:rPr kumimoji="1" lang="en-US" altLang="ja-JP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acc>
                        <m:accPr>
                          <m:chr m:val="̂"/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r>
                            <a:rPr kumimoji="1" lang="ja-JP" alt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𝜓</m:t>
                          </m:r>
                        </m:e>
                      </m:acc>
                    </m:oMath>
                  </m:oMathPara>
                </a14:m>
                <a:endParaRPr kumimoji="1" lang="en-US" altLang="ja-JP" dirty="0" smtClean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テキスト ボックス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4741" y="2499695"/>
                <a:ext cx="3835216" cy="686342"/>
              </a:xfrm>
              <a:prstGeom prst="rect">
                <a:avLst/>
              </a:prstGeom>
              <a:blipFill rotWithShape="0">
                <a:blip r:embed="rId2"/>
                <a:stretch>
                  <a:fillRect l="-792" t="-3478" r="-475" b="-347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直線矢印コネクタ 4"/>
          <p:cNvCxnSpPr>
            <a:stCxn id="2" idx="2"/>
            <a:endCxn id="3" idx="0"/>
          </p:cNvCxnSpPr>
          <p:nvPr/>
        </p:nvCxnSpPr>
        <p:spPr>
          <a:xfrm>
            <a:off x="5562349" y="1726363"/>
            <a:ext cx="0" cy="77333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/>
              <p:cNvSpPr txBox="1"/>
              <p:nvPr/>
            </p:nvSpPr>
            <p:spPr>
              <a:xfrm>
                <a:off x="5626461" y="1686178"/>
                <a:ext cx="3447419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distance between Anchors and Tag: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</m:e>
                        <m:sub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  <m:r>
                        <a:rPr kumimoji="1" lang="en-US" altLang="ja-JP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sSub>
                        <m:sSubPr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</m:e>
                        <m:sub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</m:sSub>
                      <m:r>
                        <a:rPr kumimoji="1" lang="en-US" altLang="ja-JP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sSub>
                        <m:sSubPr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</m:e>
                        <m:sub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3</m:t>
                          </m:r>
                        </m:sub>
                      </m:sSub>
                      <m:r>
                        <a:rPr kumimoji="1" lang="en-US" altLang="ja-JP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sSub>
                        <m:sSubPr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</m:e>
                        <m:sub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kumimoji="1" lang="ja-JP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" name="テキスト ボックス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6461" y="1686178"/>
                <a:ext cx="3447419" cy="646331"/>
              </a:xfrm>
              <a:prstGeom prst="rect">
                <a:avLst/>
              </a:prstGeom>
              <a:blipFill rotWithShape="0">
                <a:blip r:embed="rId3"/>
                <a:stretch>
                  <a:fillRect l="-1062" t="-5660" r="-708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テキスト ボックス 6"/>
          <p:cNvSpPr txBox="1"/>
          <p:nvPr/>
        </p:nvSpPr>
        <p:spPr>
          <a:xfrm>
            <a:off x="657157" y="2658200"/>
            <a:ext cx="167488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Distance Sensor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9" name="直線矢印コネクタ 8"/>
          <p:cNvCxnSpPr>
            <a:stCxn id="7" idx="3"/>
            <a:endCxn id="3" idx="1"/>
          </p:cNvCxnSpPr>
          <p:nvPr/>
        </p:nvCxnSpPr>
        <p:spPr>
          <a:xfrm>
            <a:off x="2332039" y="2842866"/>
            <a:ext cx="1312702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テキスト ボックス 10"/>
          <p:cNvSpPr txBox="1"/>
          <p:nvPr/>
        </p:nvSpPr>
        <p:spPr>
          <a:xfrm>
            <a:off x="2315291" y="2816705"/>
            <a:ext cx="11144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altitude</a:t>
            </a:r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kumimoji="1" lang="en-US" altLang="ja-JP" i="1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endParaRPr kumimoji="1" lang="ja-JP" altLang="en-US" i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テキスト ボックス 25"/>
          <p:cNvSpPr txBox="1"/>
          <p:nvPr/>
        </p:nvSpPr>
        <p:spPr>
          <a:xfrm>
            <a:off x="9652016" y="2434211"/>
            <a:ext cx="101412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NAVIO2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8" name="直線矢印コネクタ 27"/>
          <p:cNvCxnSpPr>
            <a:stCxn id="26" idx="1"/>
          </p:cNvCxnSpPr>
          <p:nvPr/>
        </p:nvCxnSpPr>
        <p:spPr>
          <a:xfrm flipH="1" flipV="1">
            <a:off x="7479958" y="2605441"/>
            <a:ext cx="2172058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テキスト ボックス 28"/>
              <p:cNvSpPr txBox="1"/>
              <p:nvPr/>
            </p:nvSpPr>
            <p:spPr>
              <a:xfrm>
                <a:off x="7672245" y="2634610"/>
                <a:ext cx="2203167" cy="94525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</a:t>
                </a:r>
                <a:r>
                  <a:rPr kumimoji="1"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cceleration and </a:t>
                </a:r>
              </a:p>
              <a:p>
                <a:pPr algn="ctr"/>
                <a:r>
                  <a:rPr kumimoji="1"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angular velocity: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ja-JP" alt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ja-JP" alt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ja-JP" alt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9" name="テキスト ボックス 2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2245" y="2634610"/>
                <a:ext cx="2203167" cy="945259"/>
              </a:xfrm>
              <a:prstGeom prst="rect">
                <a:avLst/>
              </a:prstGeom>
              <a:blipFill rotWithShape="0">
                <a:blip r:embed="rId4"/>
                <a:stretch>
                  <a:fillRect t="-3226" b="-129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テキスト ボックス 30"/>
          <p:cNvSpPr txBox="1"/>
          <p:nvPr/>
        </p:nvSpPr>
        <p:spPr>
          <a:xfrm>
            <a:off x="4431264" y="4177205"/>
            <a:ext cx="228780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alculate desired angle</a:t>
            </a:r>
          </a:p>
        </p:txBody>
      </p:sp>
      <p:cxnSp>
        <p:nvCxnSpPr>
          <p:cNvPr id="36" name="直線矢印コネクタ 35"/>
          <p:cNvCxnSpPr>
            <a:stCxn id="3" idx="2"/>
            <a:endCxn id="76" idx="0"/>
          </p:cNvCxnSpPr>
          <p:nvPr/>
        </p:nvCxnSpPr>
        <p:spPr>
          <a:xfrm>
            <a:off x="5562349" y="3186037"/>
            <a:ext cx="0" cy="41504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線矢印コネクタ 39"/>
          <p:cNvCxnSpPr/>
          <p:nvPr/>
        </p:nvCxnSpPr>
        <p:spPr>
          <a:xfrm flipH="1">
            <a:off x="6731894" y="3855309"/>
            <a:ext cx="1168192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テキスト ボックス 40"/>
              <p:cNvSpPr txBox="1"/>
              <p:nvPr/>
            </p:nvSpPr>
            <p:spPr>
              <a:xfrm>
                <a:off x="7913335" y="3670643"/>
                <a:ext cx="224574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</a:t>
                </a:r>
                <a:r>
                  <a:rPr kumimoji="1"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et position: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ja-JP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kumimoji="1" lang="en-US" altLang="ja-JP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𝑥</m:t>
                        </m:r>
                      </m:e>
                      <m:sub>
                        <m:r>
                          <a:rPr kumimoji="1" lang="en-US" altLang="ja-JP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𝑑</m:t>
                        </m:r>
                      </m:sub>
                    </m:sSub>
                    <m:r>
                      <a:rPr kumimoji="1" lang="en-US" altLang="ja-JP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sSub>
                      <m:sSubPr>
                        <m:ctrlPr>
                          <a:rPr kumimoji="1" lang="en-US" altLang="ja-JP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kumimoji="1" lang="en-US" altLang="ja-JP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</m:e>
                      <m:sub>
                        <m:r>
                          <a:rPr kumimoji="1" lang="en-US" altLang="ja-JP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𝑑</m:t>
                        </m:r>
                      </m:sub>
                    </m:sSub>
                    <m:r>
                      <a:rPr kumimoji="1" lang="en-US" altLang="ja-JP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sSub>
                      <m:sSubPr>
                        <m:ctrlPr>
                          <a:rPr kumimoji="1" lang="en-US" altLang="ja-JP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kumimoji="1" lang="en-US" altLang="ja-JP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𝑧</m:t>
                        </m:r>
                      </m:e>
                      <m:sub>
                        <m:r>
                          <a:rPr kumimoji="1" lang="en-US" altLang="ja-JP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𝑑</m:t>
                        </m:r>
                      </m:sub>
                    </m:sSub>
                  </m:oMath>
                </a14:m>
                <a:endParaRPr kumimoji="1" lang="ja-JP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1" name="テキスト ボックス 4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13335" y="3670643"/>
                <a:ext cx="2245743" cy="369332"/>
              </a:xfrm>
              <a:prstGeom prst="rect">
                <a:avLst/>
              </a:prstGeom>
              <a:blipFill rotWithShape="0">
                <a:blip r:embed="rId5"/>
                <a:stretch>
                  <a:fillRect l="-2168" t="-8197" b="-2459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5" name="テキスト ボックス 44"/>
          <p:cNvSpPr txBox="1"/>
          <p:nvPr/>
        </p:nvSpPr>
        <p:spPr>
          <a:xfrm>
            <a:off x="4596620" y="6243311"/>
            <a:ext cx="196079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Attitude controller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7" name="直線矢印コネクタ 46"/>
          <p:cNvCxnSpPr>
            <a:stCxn id="31" idx="2"/>
            <a:endCxn id="66" idx="0"/>
          </p:cNvCxnSpPr>
          <p:nvPr/>
        </p:nvCxnSpPr>
        <p:spPr>
          <a:xfrm>
            <a:off x="5575167" y="4546537"/>
            <a:ext cx="0" cy="45323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テキスト ボックス 47"/>
              <p:cNvSpPr txBox="1"/>
              <p:nvPr/>
            </p:nvSpPr>
            <p:spPr>
              <a:xfrm>
                <a:off x="5587989" y="5476863"/>
                <a:ext cx="3865161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</a:t>
                </a:r>
                <a:r>
                  <a:rPr kumimoji="1"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ver ride servo input(1000~2000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kumimoji="1" lang="ja-JP" altLang="en-US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μ</m:t>
                    </m:r>
                    <m:r>
                      <m:rPr>
                        <m:sty m:val="p"/>
                      </m:rPr>
                      <a:rPr kumimoji="1" lang="en-US" altLang="ja-JP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sec</m:t>
                    </m:r>
                  </m:oMath>
                </a14:m>
                <a:r>
                  <a:rPr kumimoji="1"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):</a:t>
                </a:r>
              </a:p>
              <a:p>
                <a:r>
                  <a:rPr lang="en-US" altLang="ja-JP" dirty="0" smtClean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Ch1</a:t>
                </a:r>
                <a:r>
                  <a:rPr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en-US" altLang="ja-JP" dirty="0" smtClean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Ch2</a:t>
                </a:r>
                <a:r>
                  <a:rPr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en-US" altLang="ja-JP" dirty="0" smtClean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Ch3</a:t>
                </a:r>
                <a:r>
                  <a:rPr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en-US" altLang="ja-JP" dirty="0" smtClean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Ch4</a:t>
                </a:r>
                <a:endParaRPr kumimoji="1" lang="ja-JP" altLang="en-US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8" name="テキスト ボックス 4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7989" y="5476863"/>
                <a:ext cx="3865161" cy="646331"/>
              </a:xfrm>
              <a:prstGeom prst="rect">
                <a:avLst/>
              </a:prstGeom>
              <a:blipFill rotWithShape="0">
                <a:blip r:embed="rId6"/>
                <a:stretch>
                  <a:fillRect l="-1420" t="-4717" r="-158" b="-14151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" name="テキスト ボックス 65"/>
          <p:cNvSpPr txBox="1"/>
          <p:nvPr/>
        </p:nvSpPr>
        <p:spPr>
          <a:xfrm>
            <a:off x="4174783" y="4999773"/>
            <a:ext cx="280076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hange angle to servo signal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テキスト ボックス 66"/>
              <p:cNvSpPr txBox="1"/>
              <p:nvPr/>
            </p:nvSpPr>
            <p:spPr>
              <a:xfrm>
                <a:off x="5587989" y="4557038"/>
                <a:ext cx="121821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ja-JP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ja-JP" altLang="en-US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altLang="ja-JP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</m:sub>
                      </m:sSub>
                      <m:r>
                        <a:rPr lang="en-US" altLang="ja-JP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ja-JP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ja-JP" altLang="en-US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altLang="ja-JP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</m:sub>
                      </m:sSub>
                      <m:r>
                        <a:rPr lang="en-US" altLang="ja-JP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ja-JP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ja-JP" altLang="en-US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𝜓</m:t>
                          </m:r>
                        </m:e>
                        <m:sub>
                          <m:r>
                            <a:rPr lang="en-US" altLang="ja-JP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67" name="テキスト ボックス 6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7989" y="4557038"/>
                <a:ext cx="1218219" cy="369332"/>
              </a:xfrm>
              <a:prstGeom prst="rect">
                <a:avLst/>
              </a:prstGeom>
              <a:blipFill rotWithShape="0">
                <a:blip r:embed="rId7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9" name="直線矢印コネクタ 68"/>
          <p:cNvCxnSpPr>
            <a:stCxn id="66" idx="2"/>
            <a:endCxn id="45" idx="0"/>
          </p:cNvCxnSpPr>
          <p:nvPr/>
        </p:nvCxnSpPr>
        <p:spPr>
          <a:xfrm>
            <a:off x="5575167" y="5369105"/>
            <a:ext cx="1850" cy="87420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テキスト ボックス 75"/>
          <p:cNvSpPr txBox="1"/>
          <p:nvPr/>
        </p:nvSpPr>
        <p:spPr>
          <a:xfrm>
            <a:off x="4418440" y="3601083"/>
            <a:ext cx="231345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osition PID controller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1" name="直線矢印コネクタ 80"/>
          <p:cNvCxnSpPr>
            <a:stCxn id="76" idx="2"/>
            <a:endCxn id="31" idx="0"/>
          </p:cNvCxnSpPr>
          <p:nvPr/>
        </p:nvCxnSpPr>
        <p:spPr>
          <a:xfrm>
            <a:off x="5575167" y="3970415"/>
            <a:ext cx="0" cy="20679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角丸四角形 103"/>
          <p:cNvSpPr/>
          <p:nvPr/>
        </p:nvSpPr>
        <p:spPr>
          <a:xfrm>
            <a:off x="3418703" y="2356243"/>
            <a:ext cx="4313063" cy="3129735"/>
          </a:xfrm>
          <a:prstGeom prst="roundRect">
            <a:avLst/>
          </a:prstGeom>
          <a:noFill/>
          <a:ln>
            <a:solidFill>
              <a:schemeClr val="accent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9" name="角丸四角形 108"/>
          <p:cNvSpPr/>
          <p:nvPr/>
        </p:nvSpPr>
        <p:spPr>
          <a:xfrm>
            <a:off x="4497859" y="6144197"/>
            <a:ext cx="2158314" cy="555804"/>
          </a:xfrm>
          <a:prstGeom prst="roundRect">
            <a:avLst/>
          </a:prstGeom>
          <a:noFill/>
          <a:ln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6" name="テキスト ボックス 115"/>
          <p:cNvSpPr txBox="1"/>
          <p:nvPr/>
        </p:nvSpPr>
        <p:spPr>
          <a:xfrm>
            <a:off x="3114147" y="1944286"/>
            <a:ext cx="13837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smtClean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Raspberry Pi</a:t>
            </a:r>
            <a:endParaRPr kumimoji="1" lang="ja-JP" altLang="en-US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7" name="テキスト ボックス 116"/>
          <p:cNvSpPr txBox="1"/>
          <p:nvPr/>
        </p:nvSpPr>
        <p:spPr>
          <a:xfrm>
            <a:off x="4029467" y="5764364"/>
            <a:ext cx="954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err="1" smtClean="0">
                <a:solidFill>
                  <a:schemeClr val="accent2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Pixracer</a:t>
            </a:r>
            <a:endParaRPr kumimoji="1" lang="ja-JP" altLang="en-US" dirty="0">
              <a:solidFill>
                <a:schemeClr val="accent2">
                  <a:lumMod val="60000"/>
                  <a:lumOff val="4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45915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 txBox="1"/>
          <p:nvPr/>
        </p:nvSpPr>
        <p:spPr>
          <a:xfrm>
            <a:off x="5474564" y="1461561"/>
            <a:ext cx="1588897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UWB Modules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テキスト ボックス 2"/>
              <p:cNvSpPr txBox="1"/>
              <p:nvPr/>
            </p:nvSpPr>
            <p:spPr>
              <a:xfrm>
                <a:off x="3508117" y="2524101"/>
                <a:ext cx="4061254" cy="68634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ja-JP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</a:t>
                </a:r>
                <a:r>
                  <a:rPr kumimoji="1"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osition, velocity and </a:t>
                </a:r>
                <a:r>
                  <a:rPr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attitude estimation</a:t>
                </a:r>
                <a:r>
                  <a:rPr kumimoji="1"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  <a:endParaRPr lang="en-US" altLang="ja-JP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</m:e>
                      </m:acc>
                      <m:r>
                        <a:rPr kumimoji="1" lang="en-US" altLang="ja-JP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acc>
                        <m:accPr>
                          <m:chr m:val="̂"/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𝑦</m:t>
                          </m:r>
                        </m:e>
                      </m:acc>
                      <m:r>
                        <a:rPr kumimoji="1" lang="en-US" altLang="ja-JP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acc>
                        <m:accPr>
                          <m:chr m:val="̂"/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𝑧</m:t>
                          </m:r>
                        </m:e>
                      </m:acc>
                      <m:r>
                        <a:rPr kumimoji="1" lang="en-US" altLang="ja-JP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acc>
                        <m:accPr>
                          <m:chr m:val="̂"/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kumimoji="1" lang="en-US" altLang="ja-JP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kumimoji="1" lang="en-US" altLang="ja-JP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sub>
                          </m:sSub>
                        </m:e>
                      </m:acc>
                      <m:r>
                        <a:rPr kumimoji="1" lang="en-US" altLang="ja-JP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acc>
                        <m:accPr>
                          <m:chr m:val="̂"/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kumimoji="1" lang="en-US" altLang="ja-JP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kumimoji="1" lang="en-US" altLang="ja-JP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𝑦</m:t>
                              </m:r>
                            </m:sub>
                          </m:sSub>
                        </m:e>
                      </m:acc>
                      <m:r>
                        <a:rPr kumimoji="1" lang="en-US" altLang="ja-JP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acc>
                        <m:accPr>
                          <m:chr m:val="̂"/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kumimoji="1" lang="en-US" altLang="ja-JP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kumimoji="1" lang="en-US" altLang="ja-JP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𝑧</m:t>
                              </m:r>
                            </m:sub>
                          </m:sSub>
                        </m:e>
                      </m:acc>
                      <m:r>
                        <a:rPr kumimoji="1" lang="en-US" altLang="ja-JP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acc>
                        <m:accPr>
                          <m:chr m:val="̂"/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r>
                            <a:rPr kumimoji="1" lang="ja-JP" alt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𝜙</m:t>
                          </m:r>
                        </m:e>
                      </m:acc>
                      <m:r>
                        <a:rPr kumimoji="1" lang="en-US" altLang="ja-JP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acc>
                        <m:accPr>
                          <m:chr m:val="̂"/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r>
                            <a:rPr kumimoji="1" lang="ja-JP" alt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𝜃</m:t>
                          </m:r>
                        </m:e>
                      </m:acc>
                      <m:r>
                        <a:rPr kumimoji="1" lang="en-US" altLang="ja-JP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acc>
                        <m:accPr>
                          <m:chr m:val="̂"/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r>
                            <a:rPr kumimoji="1" lang="ja-JP" alt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𝜓</m:t>
                          </m:r>
                        </m:e>
                      </m:acc>
                    </m:oMath>
                  </m:oMathPara>
                </a14:m>
                <a:endParaRPr kumimoji="1" lang="en-US" altLang="ja-JP" dirty="0" smtClean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テキスト ボックス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08117" y="2524101"/>
                <a:ext cx="4061254" cy="686342"/>
              </a:xfrm>
              <a:prstGeom prst="rect">
                <a:avLst/>
              </a:prstGeom>
              <a:blipFill rotWithShape="0">
                <a:blip r:embed="rId2"/>
                <a:stretch>
                  <a:fillRect t="-3478" r="-897" b="-347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直線矢印コネクタ 4"/>
          <p:cNvCxnSpPr>
            <a:stCxn id="2" idx="2"/>
          </p:cNvCxnSpPr>
          <p:nvPr/>
        </p:nvCxnSpPr>
        <p:spPr>
          <a:xfrm flipH="1">
            <a:off x="6269012" y="1821561"/>
            <a:ext cx="1" cy="67813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/>
              <p:cNvSpPr txBox="1"/>
              <p:nvPr/>
            </p:nvSpPr>
            <p:spPr>
              <a:xfrm>
                <a:off x="6369279" y="1808010"/>
                <a:ext cx="3588483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Distances between Anchors and Tag: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</m:e>
                        <m:sub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  <m:r>
                        <a:rPr kumimoji="1" lang="en-US" altLang="ja-JP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sSub>
                        <m:sSubPr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</m:e>
                        <m:sub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</m:sSub>
                      <m:r>
                        <a:rPr kumimoji="1" lang="en-US" altLang="ja-JP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sSub>
                        <m:sSubPr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</m:e>
                        <m:sub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3</m:t>
                          </m:r>
                        </m:sub>
                      </m:sSub>
                      <m:r>
                        <a:rPr kumimoji="1" lang="en-US" altLang="ja-JP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sSub>
                        <m:sSubPr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</m:e>
                        <m:sub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kumimoji="1" lang="ja-JP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" name="テキスト ボックス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9279" y="1808010"/>
                <a:ext cx="3588483" cy="646331"/>
              </a:xfrm>
              <a:prstGeom prst="rect">
                <a:avLst/>
              </a:prstGeom>
              <a:blipFill rotWithShape="0">
                <a:blip r:embed="rId3"/>
                <a:stretch>
                  <a:fillRect l="-850" t="-5660" r="-85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テキスト ボックス 6"/>
          <p:cNvSpPr txBox="1"/>
          <p:nvPr/>
        </p:nvSpPr>
        <p:spPr>
          <a:xfrm>
            <a:off x="3724530" y="1461561"/>
            <a:ext cx="1674882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Distance Sensor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テキスト ボックス 10"/>
          <p:cNvSpPr txBox="1"/>
          <p:nvPr/>
        </p:nvSpPr>
        <p:spPr>
          <a:xfrm>
            <a:off x="3447563" y="1914246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ltitude</a:t>
            </a:r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kumimoji="1" lang="en-US" altLang="ja-JP" i="1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endParaRPr kumimoji="1" lang="ja-JP" altLang="en-US" i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テキスト ボックス 25"/>
          <p:cNvSpPr txBox="1"/>
          <p:nvPr/>
        </p:nvSpPr>
        <p:spPr>
          <a:xfrm>
            <a:off x="9413913" y="2537223"/>
            <a:ext cx="1014124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NAVIO2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8" name="直線矢印コネクタ 27"/>
          <p:cNvCxnSpPr>
            <a:stCxn id="26" idx="1"/>
          </p:cNvCxnSpPr>
          <p:nvPr/>
        </p:nvCxnSpPr>
        <p:spPr>
          <a:xfrm flipH="1">
            <a:off x="7569371" y="2717223"/>
            <a:ext cx="1844542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テキスト ボックス 28"/>
              <p:cNvSpPr txBox="1"/>
              <p:nvPr/>
            </p:nvSpPr>
            <p:spPr>
              <a:xfrm>
                <a:off x="7669525" y="2865349"/>
                <a:ext cx="2790572" cy="69018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</a:t>
                </a:r>
                <a:r>
                  <a:rPr kumimoji="1"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cceleration: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ja-JP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altLang="ja-JP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ja-JP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ja-JP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en-US" altLang="ja-JP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ja-JP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ja-JP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</m:oMath>
                </a14:m>
                <a:r>
                  <a:rPr kumimoji="1"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  <a:p>
                <a:pPr algn="ctr"/>
                <a:r>
                  <a:rPr lang="en-US" altLang="ja-JP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</a:t>
                </a:r>
                <a:r>
                  <a:rPr kumimoji="1"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ngular velocity: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ja-JP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ja-JP" alt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kumimoji="1" lang="en-US" altLang="ja-JP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kumimoji="1" lang="en-US" altLang="ja-JP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ja-JP" alt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kumimoji="1" lang="en-US" altLang="ja-JP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kumimoji="1" lang="en-US" altLang="ja-JP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ja-JP" alt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kumimoji="1" lang="en-US" altLang="ja-JP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</m:oMath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9" name="テキスト ボックス 2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69525" y="2865349"/>
                <a:ext cx="2790572" cy="690189"/>
              </a:xfrm>
              <a:prstGeom prst="rect">
                <a:avLst/>
              </a:prstGeom>
              <a:blipFill rotWithShape="0">
                <a:blip r:embed="rId4"/>
                <a:stretch>
                  <a:fillRect l="-873" t="-4425" b="-9735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テキスト ボックス 30"/>
          <p:cNvSpPr txBox="1"/>
          <p:nvPr/>
        </p:nvSpPr>
        <p:spPr>
          <a:xfrm>
            <a:off x="4431264" y="4300428"/>
            <a:ext cx="254428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Desired angle </a:t>
            </a:r>
            <a:r>
              <a:rPr kumimoji="1" lang="en-US" altLang="ja-JP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calcuration</a:t>
            </a:r>
            <a:endParaRPr kumimoji="1" lang="en-US" altLang="ja-JP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6" name="直線矢印コネクタ 35"/>
          <p:cNvCxnSpPr/>
          <p:nvPr/>
        </p:nvCxnSpPr>
        <p:spPr>
          <a:xfrm>
            <a:off x="5572887" y="3219695"/>
            <a:ext cx="0" cy="36000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線矢印コネクタ 39"/>
          <p:cNvCxnSpPr/>
          <p:nvPr/>
        </p:nvCxnSpPr>
        <p:spPr>
          <a:xfrm flipH="1">
            <a:off x="6769904" y="3785749"/>
            <a:ext cx="1168192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テキスト ボックス 40"/>
              <p:cNvSpPr txBox="1"/>
              <p:nvPr/>
            </p:nvSpPr>
            <p:spPr>
              <a:xfrm>
                <a:off x="7951345" y="3601083"/>
                <a:ext cx="229351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</a:t>
                </a:r>
                <a:r>
                  <a:rPr kumimoji="1"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et position: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ja-JP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kumimoji="1" lang="en-US" altLang="ja-JP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𝑥</m:t>
                        </m:r>
                      </m:e>
                      <m:sub>
                        <m:r>
                          <a:rPr kumimoji="1" lang="en-US" altLang="ja-JP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𝑑</m:t>
                        </m:r>
                      </m:sub>
                    </m:sSub>
                    <m:r>
                      <a:rPr kumimoji="1" lang="en-US" altLang="ja-JP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sSub>
                      <m:sSubPr>
                        <m:ctrlPr>
                          <a:rPr kumimoji="1" lang="en-US" altLang="ja-JP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kumimoji="1" lang="en-US" altLang="ja-JP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</m:e>
                      <m:sub>
                        <m:r>
                          <a:rPr kumimoji="1" lang="en-US" altLang="ja-JP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𝑑</m:t>
                        </m:r>
                      </m:sub>
                    </m:sSub>
                    <m:r>
                      <a:rPr kumimoji="1" lang="en-US" altLang="ja-JP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sSub>
                      <m:sSubPr>
                        <m:ctrlPr>
                          <a:rPr kumimoji="1" lang="en-US" altLang="ja-JP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kumimoji="1" lang="en-US" altLang="ja-JP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𝑧</m:t>
                        </m:r>
                      </m:e>
                      <m:sub>
                        <m:r>
                          <a:rPr kumimoji="1" lang="en-US" altLang="ja-JP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𝑑</m:t>
                        </m:r>
                      </m:sub>
                    </m:sSub>
                  </m:oMath>
                </a14:m>
                <a:endParaRPr kumimoji="1" lang="ja-JP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1" name="テキスト ボックス 4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51345" y="3601083"/>
                <a:ext cx="2293513" cy="369332"/>
              </a:xfrm>
              <a:prstGeom prst="rect">
                <a:avLst/>
              </a:prstGeom>
              <a:blipFill rotWithShape="0">
                <a:blip r:embed="rId5"/>
                <a:stretch>
                  <a:fillRect l="-2122" t="-10000" b="-2666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5" name="テキスト ボックス 44"/>
          <p:cNvSpPr txBox="1"/>
          <p:nvPr/>
        </p:nvSpPr>
        <p:spPr>
          <a:xfrm>
            <a:off x="4596620" y="6243311"/>
            <a:ext cx="1960793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Attitude controller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7" name="直線矢印コネクタ 46"/>
          <p:cNvCxnSpPr/>
          <p:nvPr/>
        </p:nvCxnSpPr>
        <p:spPr>
          <a:xfrm>
            <a:off x="5571962" y="4660428"/>
            <a:ext cx="0" cy="36000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テキスト ボックス 47"/>
              <p:cNvSpPr txBox="1"/>
              <p:nvPr/>
            </p:nvSpPr>
            <p:spPr>
              <a:xfrm>
                <a:off x="5587989" y="5476863"/>
                <a:ext cx="3865161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</a:t>
                </a:r>
                <a:r>
                  <a:rPr kumimoji="1"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ver ride servo input(1000~2000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kumimoji="1" lang="ja-JP" altLang="en-US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μ</m:t>
                    </m:r>
                    <m:r>
                      <m:rPr>
                        <m:sty m:val="p"/>
                      </m:rPr>
                      <a:rPr kumimoji="1" lang="en-US" altLang="ja-JP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sec</m:t>
                    </m:r>
                  </m:oMath>
                </a14:m>
                <a:r>
                  <a:rPr kumimoji="1"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):</a:t>
                </a:r>
              </a:p>
              <a:p>
                <a:r>
                  <a:rPr lang="en-US" altLang="ja-JP" dirty="0" smtClean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Ch1</a:t>
                </a:r>
                <a:r>
                  <a:rPr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en-US" altLang="ja-JP" dirty="0" smtClean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Ch2</a:t>
                </a:r>
                <a:r>
                  <a:rPr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en-US" altLang="ja-JP" dirty="0" smtClean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Ch3</a:t>
                </a:r>
                <a:r>
                  <a:rPr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en-US" altLang="ja-JP" dirty="0" smtClean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Ch4</a:t>
                </a:r>
                <a:endParaRPr kumimoji="1" lang="ja-JP" altLang="en-US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8" name="テキスト ボックス 4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7989" y="5476863"/>
                <a:ext cx="3865161" cy="646331"/>
              </a:xfrm>
              <a:prstGeom prst="rect">
                <a:avLst/>
              </a:prstGeom>
              <a:blipFill rotWithShape="0">
                <a:blip r:embed="rId6"/>
                <a:stretch>
                  <a:fillRect l="-1420" t="-4717" r="-158" b="-14151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" name="テキスト ボックス 65"/>
          <p:cNvSpPr txBox="1"/>
          <p:nvPr/>
        </p:nvSpPr>
        <p:spPr>
          <a:xfrm>
            <a:off x="4174783" y="4999773"/>
            <a:ext cx="294183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hange angles to servo signal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テキスト ボックス 66"/>
              <p:cNvSpPr txBox="1"/>
              <p:nvPr/>
            </p:nvSpPr>
            <p:spPr>
              <a:xfrm>
                <a:off x="5585212" y="4645435"/>
                <a:ext cx="121821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ja-JP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ja-JP" altLang="en-US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altLang="ja-JP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</m:sub>
                      </m:sSub>
                      <m:r>
                        <a:rPr lang="en-US" altLang="ja-JP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ja-JP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ja-JP" altLang="en-US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altLang="ja-JP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</m:sub>
                      </m:sSub>
                      <m:r>
                        <a:rPr lang="en-US" altLang="ja-JP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ja-JP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ja-JP" altLang="en-US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𝜓</m:t>
                          </m:r>
                        </m:e>
                        <m:sub>
                          <m:r>
                            <a:rPr lang="en-US" altLang="ja-JP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67" name="テキスト ボックス 6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5212" y="4645435"/>
                <a:ext cx="1218219" cy="369332"/>
              </a:xfrm>
              <a:prstGeom prst="rect">
                <a:avLst/>
              </a:prstGeom>
              <a:blipFill rotWithShape="0">
                <a:blip r:embed="rId7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9" name="直線矢印コネクタ 68"/>
          <p:cNvCxnSpPr/>
          <p:nvPr/>
        </p:nvCxnSpPr>
        <p:spPr>
          <a:xfrm>
            <a:off x="5571962" y="5359773"/>
            <a:ext cx="1850" cy="90000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テキスト ボックス 75"/>
          <p:cNvSpPr txBox="1"/>
          <p:nvPr/>
        </p:nvSpPr>
        <p:spPr>
          <a:xfrm>
            <a:off x="4418440" y="3601083"/>
            <a:ext cx="232627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osition PID controller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1" name="直線矢印コネクタ 80"/>
          <p:cNvCxnSpPr/>
          <p:nvPr/>
        </p:nvCxnSpPr>
        <p:spPr>
          <a:xfrm>
            <a:off x="5572887" y="3961083"/>
            <a:ext cx="0" cy="33934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角丸四角形 103"/>
          <p:cNvSpPr/>
          <p:nvPr/>
        </p:nvSpPr>
        <p:spPr>
          <a:xfrm>
            <a:off x="3319849" y="2304581"/>
            <a:ext cx="4473146" cy="3181397"/>
          </a:xfrm>
          <a:prstGeom prst="roundRect">
            <a:avLst/>
          </a:prstGeom>
          <a:noFill/>
          <a:ln>
            <a:solidFill>
              <a:schemeClr val="accent5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9" name="角丸四角形 108"/>
          <p:cNvSpPr/>
          <p:nvPr/>
        </p:nvSpPr>
        <p:spPr>
          <a:xfrm>
            <a:off x="4497859" y="6144197"/>
            <a:ext cx="2158314" cy="555804"/>
          </a:xfrm>
          <a:prstGeom prst="roundRect">
            <a:avLst/>
          </a:prstGeom>
          <a:noFill/>
          <a:ln>
            <a:solidFill>
              <a:schemeClr val="accent2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16" name="テキスト ボックス 115"/>
          <p:cNvSpPr txBox="1"/>
          <p:nvPr/>
        </p:nvSpPr>
        <p:spPr>
          <a:xfrm>
            <a:off x="7701585" y="4985044"/>
            <a:ext cx="13837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smtClean="0">
                <a:solidFill>
                  <a:schemeClr val="accent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Raspberry Pi</a:t>
            </a:r>
            <a:endParaRPr kumimoji="1" lang="ja-JP" altLang="en-US" dirty="0">
              <a:solidFill>
                <a:schemeClr val="accent5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7" name="テキスト ボックス 116"/>
          <p:cNvSpPr txBox="1"/>
          <p:nvPr/>
        </p:nvSpPr>
        <p:spPr>
          <a:xfrm>
            <a:off x="4307278" y="5725308"/>
            <a:ext cx="954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err="1" smtClean="0">
                <a:solidFill>
                  <a:schemeClr val="accent2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Pixracer</a:t>
            </a:r>
            <a:endParaRPr kumimoji="1" lang="ja-JP" altLang="en-US" dirty="0">
              <a:solidFill>
                <a:schemeClr val="accent2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4" name="直線矢印コネクタ 13"/>
          <p:cNvCxnSpPr>
            <a:stCxn id="7" idx="2"/>
          </p:cNvCxnSpPr>
          <p:nvPr/>
        </p:nvCxnSpPr>
        <p:spPr>
          <a:xfrm>
            <a:off x="4561971" y="1821561"/>
            <a:ext cx="0" cy="6781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973918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7810" y="0"/>
            <a:ext cx="9204898" cy="6858000"/>
          </a:xfrm>
          <a:prstGeom prst="rect">
            <a:avLst/>
          </a:prstGeom>
        </p:spPr>
      </p:pic>
      <p:sp>
        <p:nvSpPr>
          <p:cNvPr id="3" name="テキスト ボックス 2"/>
          <p:cNvSpPr txBox="1"/>
          <p:nvPr/>
        </p:nvSpPr>
        <p:spPr>
          <a:xfrm>
            <a:off x="1710677" y="4981407"/>
            <a:ext cx="3581894" cy="181588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en-US" altLang="ja-JP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650g, </a:t>
            </a:r>
            <a:r>
              <a:rPr lang="en-US" altLang="ja-JP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2633KV</a:t>
            </a:r>
          </a:p>
          <a:p>
            <a:r>
              <a:rPr kumimoji="1" lang="en-US" altLang="ja-JP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Propeller(Inch): </a:t>
            </a:r>
          </a:p>
          <a:p>
            <a:r>
              <a:rPr kumimoji="1" lang="en-US" altLang="ja-JP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5(diameter) × </a:t>
            </a:r>
            <a:r>
              <a:rPr lang="en-US" altLang="ja-JP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3(pitch)</a:t>
            </a:r>
            <a:endParaRPr kumimoji="1" lang="en-US" altLang="ja-JP" sz="28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ja-JP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LiPo (3Cell 1800mAh)</a:t>
            </a:r>
            <a:endParaRPr kumimoji="1" lang="ja-JP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テキスト ボックス 3"/>
          <p:cNvSpPr txBox="1"/>
          <p:nvPr/>
        </p:nvSpPr>
        <p:spPr>
          <a:xfrm>
            <a:off x="7317218" y="131323"/>
            <a:ext cx="218681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UWB module</a:t>
            </a:r>
            <a:endParaRPr kumimoji="1" lang="ja-JP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" name="直線矢印コネクタ 5"/>
          <p:cNvCxnSpPr>
            <a:stCxn id="4" idx="1"/>
          </p:cNvCxnSpPr>
          <p:nvPr/>
        </p:nvCxnSpPr>
        <p:spPr>
          <a:xfrm flipH="1">
            <a:off x="6293796" y="392933"/>
            <a:ext cx="1023422" cy="5940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テキスト ボックス 8"/>
          <p:cNvSpPr txBox="1"/>
          <p:nvPr/>
        </p:nvSpPr>
        <p:spPr>
          <a:xfrm>
            <a:off x="1638585" y="625672"/>
            <a:ext cx="24449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Distance sensor</a:t>
            </a:r>
            <a:endParaRPr kumimoji="1" lang="ja-JP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1" name="直線矢印コネクタ 10"/>
          <p:cNvCxnSpPr>
            <a:stCxn id="9" idx="3"/>
          </p:cNvCxnSpPr>
          <p:nvPr/>
        </p:nvCxnSpPr>
        <p:spPr>
          <a:xfrm>
            <a:off x="4083485" y="887282"/>
            <a:ext cx="624702" cy="89288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テキスト ボックス 11"/>
          <p:cNvSpPr txBox="1"/>
          <p:nvPr/>
        </p:nvSpPr>
        <p:spPr>
          <a:xfrm>
            <a:off x="8473706" y="756124"/>
            <a:ext cx="8835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IMU</a:t>
            </a:r>
            <a:endParaRPr kumimoji="1" lang="ja-JP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4" name="直線矢印コネクタ 13"/>
          <p:cNvCxnSpPr>
            <a:stCxn id="12" idx="1"/>
          </p:cNvCxnSpPr>
          <p:nvPr/>
        </p:nvCxnSpPr>
        <p:spPr>
          <a:xfrm flipH="1">
            <a:off x="7159558" y="1017734"/>
            <a:ext cx="1314148" cy="76242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線矢印コネクタ 19"/>
          <p:cNvCxnSpPr/>
          <p:nvPr/>
        </p:nvCxnSpPr>
        <p:spPr>
          <a:xfrm>
            <a:off x="3005847" y="3554543"/>
            <a:ext cx="3385225" cy="1854036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コネクタ 23"/>
          <p:cNvCxnSpPr/>
          <p:nvPr/>
        </p:nvCxnSpPr>
        <p:spPr>
          <a:xfrm flipH="1">
            <a:off x="2140085" y="3206692"/>
            <a:ext cx="1126800" cy="119021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コネクタ 24"/>
          <p:cNvCxnSpPr/>
          <p:nvPr/>
        </p:nvCxnSpPr>
        <p:spPr>
          <a:xfrm flipH="1">
            <a:off x="5535437" y="5116749"/>
            <a:ext cx="1069644" cy="1301364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テキスト ボックス 32"/>
          <p:cNvSpPr txBox="1"/>
          <p:nvPr/>
        </p:nvSpPr>
        <p:spPr>
          <a:xfrm>
            <a:off x="3638145" y="4396902"/>
            <a:ext cx="12811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165mm</a:t>
            </a:r>
            <a:endParaRPr kumimoji="1" lang="ja-JP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70803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94638" y="1120346"/>
            <a:ext cx="4836457" cy="3628767"/>
          </a:xfrm>
          <a:prstGeom prst="rect">
            <a:avLst/>
          </a:prstGeom>
        </p:spPr>
      </p:pic>
      <p:sp>
        <p:nvSpPr>
          <p:cNvPr id="6" name="円/楕円 5"/>
          <p:cNvSpPr/>
          <p:nvPr/>
        </p:nvSpPr>
        <p:spPr>
          <a:xfrm>
            <a:off x="5997147" y="2012093"/>
            <a:ext cx="329513" cy="329513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円/楕円 6"/>
          <p:cNvSpPr/>
          <p:nvPr/>
        </p:nvSpPr>
        <p:spPr>
          <a:xfrm>
            <a:off x="6161904" y="3562866"/>
            <a:ext cx="329513" cy="329513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円/楕円 7"/>
          <p:cNvSpPr/>
          <p:nvPr/>
        </p:nvSpPr>
        <p:spPr>
          <a:xfrm>
            <a:off x="7397580" y="2932666"/>
            <a:ext cx="329513" cy="329513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円/楕円 8"/>
          <p:cNvSpPr/>
          <p:nvPr/>
        </p:nvSpPr>
        <p:spPr>
          <a:xfrm>
            <a:off x="4911794" y="3035642"/>
            <a:ext cx="329513" cy="329513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7" name="グループ化 16"/>
          <p:cNvGrpSpPr/>
          <p:nvPr/>
        </p:nvGrpSpPr>
        <p:grpSpPr>
          <a:xfrm>
            <a:off x="6364539" y="1120346"/>
            <a:ext cx="2066082" cy="734182"/>
            <a:chOff x="6491417" y="1225438"/>
            <a:chExt cx="2066082" cy="734182"/>
          </a:xfrm>
        </p:grpSpPr>
        <p:grpSp>
          <p:nvGrpSpPr>
            <p:cNvPr id="14" name="グループ化 13"/>
            <p:cNvGrpSpPr/>
            <p:nvPr/>
          </p:nvGrpSpPr>
          <p:grpSpPr>
            <a:xfrm>
              <a:off x="6491417" y="1225438"/>
              <a:ext cx="1910591" cy="400110"/>
              <a:chOff x="1581037" y="1120346"/>
              <a:chExt cx="2399410" cy="515621"/>
            </a:xfrm>
          </p:grpSpPr>
          <p:sp>
            <p:nvSpPr>
              <p:cNvPr id="2" name="テキスト ボックス 1"/>
              <p:cNvSpPr txBox="1"/>
              <p:nvPr/>
            </p:nvSpPr>
            <p:spPr>
              <a:xfrm>
                <a:off x="1910550" y="1120346"/>
                <a:ext cx="2069897" cy="5156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20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Fixed station</a:t>
                </a:r>
                <a:endParaRPr kumimoji="1" lang="ja-JP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0" name="円/楕円 9"/>
              <p:cNvSpPr/>
              <p:nvPr/>
            </p:nvSpPr>
            <p:spPr>
              <a:xfrm>
                <a:off x="1581037" y="1229958"/>
                <a:ext cx="329513" cy="329513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11" name="テキスト ボックス 10"/>
            <p:cNvSpPr txBox="1"/>
            <p:nvPr/>
          </p:nvSpPr>
          <p:spPr>
            <a:xfrm>
              <a:off x="6753800" y="1559510"/>
              <a:ext cx="180369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: Mobile station</a:t>
              </a:r>
              <a:endParaRPr kumimoji="1" lang="ja-JP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円/楕円 11"/>
            <p:cNvSpPr/>
            <p:nvPr/>
          </p:nvSpPr>
          <p:spPr>
            <a:xfrm>
              <a:off x="6491417" y="1644566"/>
              <a:ext cx="262383" cy="255694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4" name="グループ化 3"/>
          <p:cNvGrpSpPr/>
          <p:nvPr/>
        </p:nvGrpSpPr>
        <p:grpSpPr>
          <a:xfrm>
            <a:off x="2342363" y="4932174"/>
            <a:ext cx="1661997" cy="419331"/>
            <a:chOff x="4606992" y="5527588"/>
            <a:chExt cx="1661997" cy="419331"/>
          </a:xfrm>
        </p:grpSpPr>
        <p:pic>
          <p:nvPicPr>
            <p:cNvPr id="5" name="図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606992" y="5643424"/>
              <a:ext cx="1661997" cy="303495"/>
            </a:xfrm>
            <a:prstGeom prst="rect">
              <a:avLst/>
            </a:prstGeom>
          </p:spPr>
        </p:pic>
        <p:sp>
          <p:nvSpPr>
            <p:cNvPr id="13" name="円/楕円 12"/>
            <p:cNvSpPr/>
            <p:nvPr/>
          </p:nvSpPr>
          <p:spPr>
            <a:xfrm>
              <a:off x="5303737" y="5527588"/>
              <a:ext cx="268505" cy="267583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cxnSp>
        <p:nvCxnSpPr>
          <p:cNvPr id="19" name="直線コネクタ 18"/>
          <p:cNvCxnSpPr/>
          <p:nvPr/>
        </p:nvCxnSpPr>
        <p:spPr>
          <a:xfrm>
            <a:off x="4094205" y="5140411"/>
            <a:ext cx="518984" cy="18123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テキスト ボックス 19"/>
          <p:cNvSpPr txBox="1"/>
          <p:nvPr/>
        </p:nvSpPr>
        <p:spPr>
          <a:xfrm>
            <a:off x="4590518" y="5166839"/>
            <a:ext cx="12398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Quad-rotor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80854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ループ化 2"/>
          <p:cNvGrpSpPr/>
          <p:nvPr/>
        </p:nvGrpSpPr>
        <p:grpSpPr>
          <a:xfrm>
            <a:off x="889687" y="2164491"/>
            <a:ext cx="9803026" cy="1781432"/>
            <a:chOff x="889687" y="2164491"/>
            <a:chExt cx="9803026" cy="1781432"/>
          </a:xfrm>
        </p:grpSpPr>
        <p:sp>
          <p:nvSpPr>
            <p:cNvPr id="2" name="正方形/長方形 1"/>
            <p:cNvSpPr/>
            <p:nvPr/>
          </p:nvSpPr>
          <p:spPr>
            <a:xfrm>
              <a:off x="4753232" y="2998572"/>
              <a:ext cx="2092411" cy="947351"/>
            </a:xfrm>
            <a:prstGeom prst="rect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4" name="直線コネクタ 3"/>
            <p:cNvCxnSpPr/>
            <p:nvPr/>
          </p:nvCxnSpPr>
          <p:spPr>
            <a:xfrm flipH="1">
              <a:off x="3006811" y="3204519"/>
              <a:ext cx="172994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" name="直線コネクタ 4"/>
            <p:cNvCxnSpPr/>
            <p:nvPr/>
          </p:nvCxnSpPr>
          <p:spPr>
            <a:xfrm flipH="1">
              <a:off x="6845643" y="3204519"/>
              <a:ext cx="172994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6" name="正方形/長方形 5"/>
            <p:cNvSpPr/>
            <p:nvPr/>
          </p:nvSpPr>
          <p:spPr>
            <a:xfrm>
              <a:off x="2388973" y="2767914"/>
              <a:ext cx="617838" cy="823783"/>
            </a:xfrm>
            <a:prstGeom prst="rect">
              <a:avLst/>
            </a:prstGeom>
            <a:solidFill>
              <a:schemeClr val="bg1"/>
            </a:solidFill>
            <a:ln w="57150"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正方形/長方形 6"/>
            <p:cNvSpPr/>
            <p:nvPr/>
          </p:nvSpPr>
          <p:spPr>
            <a:xfrm>
              <a:off x="8575589" y="2767914"/>
              <a:ext cx="617838" cy="823783"/>
            </a:xfrm>
            <a:prstGeom prst="rect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円/楕円 7"/>
            <p:cNvSpPr/>
            <p:nvPr/>
          </p:nvSpPr>
          <p:spPr>
            <a:xfrm>
              <a:off x="889687" y="2325130"/>
              <a:ext cx="3616410" cy="387178"/>
            </a:xfrm>
            <a:prstGeom prst="ellips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9" name="円/楕円 8"/>
            <p:cNvSpPr/>
            <p:nvPr/>
          </p:nvSpPr>
          <p:spPr>
            <a:xfrm>
              <a:off x="7076303" y="2325130"/>
              <a:ext cx="3616410" cy="387178"/>
            </a:xfrm>
            <a:prstGeom prst="ellips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" name="正方形/長方形 9"/>
            <p:cNvSpPr/>
            <p:nvPr/>
          </p:nvSpPr>
          <p:spPr>
            <a:xfrm>
              <a:off x="2590800" y="2164491"/>
              <a:ext cx="214183" cy="321275"/>
            </a:xfrm>
            <a:prstGeom prst="rect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" name="正方形/長方形 10"/>
            <p:cNvSpPr/>
            <p:nvPr/>
          </p:nvSpPr>
          <p:spPr>
            <a:xfrm>
              <a:off x="8777416" y="2164492"/>
              <a:ext cx="214183" cy="321275"/>
            </a:xfrm>
            <a:prstGeom prst="rect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3027960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線矢印コネクタ 2"/>
          <p:cNvCxnSpPr/>
          <p:nvPr/>
        </p:nvCxnSpPr>
        <p:spPr>
          <a:xfrm flipV="1">
            <a:off x="3179805" y="2034746"/>
            <a:ext cx="0" cy="323747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線矢印コネクタ 4"/>
          <p:cNvCxnSpPr/>
          <p:nvPr/>
        </p:nvCxnSpPr>
        <p:spPr>
          <a:xfrm>
            <a:off x="3179805" y="5272216"/>
            <a:ext cx="4860325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3648846" y="2899718"/>
            <a:ext cx="329513" cy="2372498"/>
          </a:xfrm>
          <a:prstGeom prst="rect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/>
          <p:cNvSpPr/>
          <p:nvPr/>
        </p:nvSpPr>
        <p:spPr>
          <a:xfrm>
            <a:off x="4611130" y="2899718"/>
            <a:ext cx="329513" cy="2372498"/>
          </a:xfrm>
          <a:prstGeom prst="rect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正方形/長方形 9"/>
          <p:cNvSpPr/>
          <p:nvPr/>
        </p:nvSpPr>
        <p:spPr>
          <a:xfrm>
            <a:off x="5338118" y="4802659"/>
            <a:ext cx="1919416" cy="46955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テキスト ボックス 10"/>
          <p:cNvSpPr txBox="1"/>
          <p:nvPr/>
        </p:nvSpPr>
        <p:spPr>
          <a:xfrm>
            <a:off x="3567333" y="5272216"/>
            <a:ext cx="476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1.6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テキスト ボックス 11"/>
          <p:cNvSpPr txBox="1"/>
          <p:nvPr/>
        </p:nvSpPr>
        <p:spPr>
          <a:xfrm>
            <a:off x="4529617" y="5272216"/>
            <a:ext cx="476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2.4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テキスト ボックス 12"/>
          <p:cNvSpPr txBox="1"/>
          <p:nvPr/>
        </p:nvSpPr>
        <p:spPr>
          <a:xfrm>
            <a:off x="5894863" y="5272216"/>
            <a:ext cx="476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5.0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テキスト ボックス 14"/>
          <p:cNvSpPr txBox="1"/>
          <p:nvPr/>
        </p:nvSpPr>
        <p:spPr>
          <a:xfrm>
            <a:off x="5131494" y="5272216"/>
            <a:ext cx="4732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3.1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テキスト ボックス 15"/>
          <p:cNvSpPr txBox="1"/>
          <p:nvPr/>
        </p:nvSpPr>
        <p:spPr>
          <a:xfrm>
            <a:off x="6996686" y="5272216"/>
            <a:ext cx="5886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10.6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テキスト ボックス 17"/>
          <p:cNvSpPr txBox="1"/>
          <p:nvPr/>
        </p:nvSpPr>
        <p:spPr>
          <a:xfrm>
            <a:off x="3500034" y="2513910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GPS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テキスト ボックス 18"/>
          <p:cNvSpPr txBox="1"/>
          <p:nvPr/>
        </p:nvSpPr>
        <p:spPr>
          <a:xfrm>
            <a:off x="4228300" y="2513910"/>
            <a:ext cx="1095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Bluetooth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テキスト ボックス 19"/>
          <p:cNvSpPr txBox="1"/>
          <p:nvPr/>
        </p:nvSpPr>
        <p:spPr>
          <a:xfrm>
            <a:off x="5769636" y="2513910"/>
            <a:ext cx="726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Wi-Fi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テキスト ボックス 20"/>
          <p:cNvSpPr txBox="1"/>
          <p:nvPr/>
        </p:nvSpPr>
        <p:spPr>
          <a:xfrm>
            <a:off x="6504450" y="4466279"/>
            <a:ext cx="7232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UWB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正方形/長方形 8"/>
          <p:cNvSpPr/>
          <p:nvPr/>
        </p:nvSpPr>
        <p:spPr>
          <a:xfrm>
            <a:off x="5968313" y="2899718"/>
            <a:ext cx="329513" cy="2372498"/>
          </a:xfrm>
          <a:prstGeom prst="rect">
            <a:avLst/>
          </a:prstGeom>
          <a:solidFill>
            <a:schemeClr val="accent4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テキスト ボックス 23"/>
          <p:cNvSpPr txBox="1"/>
          <p:nvPr/>
        </p:nvSpPr>
        <p:spPr>
          <a:xfrm>
            <a:off x="4582988" y="5625072"/>
            <a:ext cx="24562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Frequency [GHz]</a:t>
            </a:r>
            <a:endParaRPr kumimoji="1" lang="ja-JP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テキスト ボックス 24"/>
          <p:cNvSpPr txBox="1"/>
          <p:nvPr/>
        </p:nvSpPr>
        <p:spPr>
          <a:xfrm rot="16200000">
            <a:off x="1537554" y="3587619"/>
            <a:ext cx="250260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Power spectral density</a:t>
            </a:r>
            <a:endParaRPr kumimoji="1" lang="ja-JP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86580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図 9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165"/>
          <a:stretch/>
        </p:blipFill>
        <p:spPr>
          <a:xfrm>
            <a:off x="1911996" y="4840494"/>
            <a:ext cx="1359469" cy="1090199"/>
          </a:xfrm>
          <a:prstGeom prst="rect">
            <a:avLst/>
          </a:prstGeom>
        </p:spPr>
      </p:pic>
      <p:pic>
        <p:nvPicPr>
          <p:cNvPr id="11" name="図 10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94" r="6401" b="3805"/>
          <a:stretch/>
        </p:blipFill>
        <p:spPr>
          <a:xfrm>
            <a:off x="5390875" y="4840494"/>
            <a:ext cx="1725828" cy="1391230"/>
          </a:xfrm>
          <a:prstGeom prst="rect">
            <a:avLst/>
          </a:prstGeom>
        </p:spPr>
      </p:pic>
      <p:sp>
        <p:nvSpPr>
          <p:cNvPr id="12" name="円/楕円 11"/>
          <p:cNvSpPr/>
          <p:nvPr/>
        </p:nvSpPr>
        <p:spPr>
          <a:xfrm>
            <a:off x="2790609" y="1051813"/>
            <a:ext cx="354227" cy="35422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円/楕円 12"/>
          <p:cNvSpPr/>
          <p:nvPr/>
        </p:nvSpPr>
        <p:spPr>
          <a:xfrm>
            <a:off x="6476647" y="3421358"/>
            <a:ext cx="354227" cy="35422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円/楕円 13"/>
          <p:cNvSpPr/>
          <p:nvPr/>
        </p:nvSpPr>
        <p:spPr>
          <a:xfrm>
            <a:off x="2943241" y="3646370"/>
            <a:ext cx="354227" cy="35422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円/楕円 14"/>
          <p:cNvSpPr/>
          <p:nvPr/>
        </p:nvSpPr>
        <p:spPr>
          <a:xfrm>
            <a:off x="6476647" y="1138771"/>
            <a:ext cx="354227" cy="35422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円/楕円 15"/>
          <p:cNvSpPr/>
          <p:nvPr/>
        </p:nvSpPr>
        <p:spPr>
          <a:xfrm>
            <a:off x="4705864" y="2059459"/>
            <a:ext cx="354227" cy="35422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/>
          <p:cNvSpPr txBox="1"/>
          <p:nvPr/>
        </p:nvSpPr>
        <p:spPr>
          <a:xfrm>
            <a:off x="1589792" y="3360086"/>
            <a:ext cx="147508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Anchor1</a:t>
            </a:r>
          </a:p>
          <a:p>
            <a:r>
              <a:rPr lang="en-US" altLang="ja-J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altLang="ja-JP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ja-JP" sz="24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US" altLang="ja-J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altLang="ja-JP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ja-JP" sz="24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US" altLang="ja-J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altLang="ja-JP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r>
              <a:rPr lang="en-US" altLang="ja-JP" sz="24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US" altLang="ja-J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</a:t>
            </a:r>
            <a:endParaRPr lang="ja-JP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テキスト ボックス 20"/>
          <p:cNvSpPr txBox="1"/>
          <p:nvPr/>
        </p:nvSpPr>
        <p:spPr>
          <a:xfrm>
            <a:off x="1389629" y="788765"/>
            <a:ext cx="147508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Anchor2</a:t>
            </a:r>
            <a:endParaRPr lang="en-US" altLang="ja-JP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ja-J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altLang="ja-JP" sz="24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ja-JP" sz="2400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US" altLang="ja-JP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altLang="ja-JP" sz="24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ja-JP" sz="2400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US" altLang="ja-JP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altLang="ja-JP" sz="24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r>
              <a:rPr lang="en-US" altLang="ja-JP" sz="2400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US" altLang="ja-JP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) </a:t>
            </a:r>
            <a:endParaRPr lang="ja-JP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テキスト ボックス 21"/>
          <p:cNvSpPr txBox="1"/>
          <p:nvPr/>
        </p:nvSpPr>
        <p:spPr>
          <a:xfrm>
            <a:off x="6887820" y="842484"/>
            <a:ext cx="147508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Anchor3</a:t>
            </a:r>
            <a:endParaRPr lang="en-US" altLang="ja-JP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ja-J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altLang="ja-JP" sz="24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ja-JP" sz="24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US" altLang="ja-JP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altLang="ja-JP" sz="24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ja-JP" sz="24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US" altLang="ja-JP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altLang="ja-JP" sz="24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r>
              <a:rPr lang="en-US" altLang="ja-JP" sz="24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US" altLang="ja-JP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) </a:t>
            </a:r>
            <a:endParaRPr lang="ja-JP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テキスト ボックス 22"/>
          <p:cNvSpPr txBox="1"/>
          <p:nvPr/>
        </p:nvSpPr>
        <p:spPr>
          <a:xfrm>
            <a:off x="6830874" y="3159259"/>
            <a:ext cx="147508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Anchor4</a:t>
            </a:r>
            <a:endParaRPr lang="en-US" altLang="ja-JP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ja-J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altLang="ja-JP" sz="24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ja-JP" sz="24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US" altLang="ja-JP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altLang="ja-JP" sz="24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ja-JP" sz="24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US" altLang="ja-JP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altLang="ja-JP" sz="24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r>
              <a:rPr lang="en-US" altLang="ja-JP" sz="24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US" altLang="ja-JP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) </a:t>
            </a:r>
            <a:endParaRPr lang="ja-JP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テキスト ボックス 23"/>
              <p:cNvSpPr txBox="1"/>
              <p:nvPr/>
            </p:nvSpPr>
            <p:spPr>
              <a:xfrm>
                <a:off x="4327495" y="1092400"/>
                <a:ext cx="1278492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24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Tag</a:t>
                </a:r>
                <a:endParaRPr lang="en-US" altLang="ja-JP" sz="2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altLang="ja-JP" sz="24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altLang="ja-JP" sz="240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acc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altLang="ja-JP" sz="24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altLang="ja-JP" sz="240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acc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en-US" altLang="ja-JP" sz="24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altLang="ja-JP" sz="240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acc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𝑧</m:t>
                        </m:r>
                      </m:e>
                    </m:acc>
                  </m:oMath>
                </a14:m>
                <a:r>
                  <a:rPr lang="en-US" altLang="ja-JP" sz="24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 </a:t>
                </a:r>
                <a:endParaRPr lang="ja-JP" altLang="en-US" sz="2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4" name="テキスト ボックス 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7495" y="1092400"/>
                <a:ext cx="1278492" cy="830997"/>
              </a:xfrm>
              <a:prstGeom prst="rect">
                <a:avLst/>
              </a:prstGeom>
              <a:blipFill rotWithShape="0">
                <a:blip r:embed="rId4"/>
                <a:stretch>
                  <a:fillRect l="-7619" t="-5839" r="-12381" b="-15328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直線矢印コネクタ 25"/>
          <p:cNvCxnSpPr/>
          <p:nvPr/>
        </p:nvCxnSpPr>
        <p:spPr>
          <a:xfrm>
            <a:off x="3267103" y="1257982"/>
            <a:ext cx="1438761" cy="801477"/>
          </a:xfrm>
          <a:prstGeom prst="straightConnector1">
            <a:avLst/>
          </a:prstGeom>
          <a:ln w="1905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矢印コネクタ 26"/>
          <p:cNvCxnSpPr/>
          <p:nvPr/>
        </p:nvCxnSpPr>
        <p:spPr>
          <a:xfrm flipV="1">
            <a:off x="5060091" y="1388930"/>
            <a:ext cx="1345914" cy="652729"/>
          </a:xfrm>
          <a:prstGeom prst="straightConnector1">
            <a:avLst/>
          </a:prstGeom>
          <a:ln w="1905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矢印コネクタ 27"/>
          <p:cNvCxnSpPr/>
          <p:nvPr/>
        </p:nvCxnSpPr>
        <p:spPr>
          <a:xfrm>
            <a:off x="5060091" y="2413686"/>
            <a:ext cx="1345914" cy="1017011"/>
          </a:xfrm>
          <a:prstGeom prst="straightConnector1">
            <a:avLst/>
          </a:prstGeom>
          <a:ln w="1905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線矢印コネクタ 28"/>
          <p:cNvCxnSpPr/>
          <p:nvPr/>
        </p:nvCxnSpPr>
        <p:spPr>
          <a:xfrm flipH="1">
            <a:off x="3297468" y="2402313"/>
            <a:ext cx="1349155" cy="1218719"/>
          </a:xfrm>
          <a:prstGeom prst="straightConnector1">
            <a:avLst/>
          </a:prstGeom>
          <a:ln w="1905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テキスト ボックス 37"/>
              <p:cNvSpPr txBox="1"/>
              <p:nvPr/>
            </p:nvSpPr>
            <p:spPr>
              <a:xfrm>
                <a:off x="5733048" y="2629774"/>
                <a:ext cx="389466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kumimoji="1" lang="ja-JP" altLang="en-US" sz="2400" dirty="0"/>
              </a:p>
            </p:txBody>
          </p:sp>
        </mc:Choice>
        <mc:Fallback xmlns="">
          <p:sp>
            <p:nvSpPr>
              <p:cNvPr id="38" name="テキスト ボックス 3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33048" y="2629774"/>
                <a:ext cx="389466" cy="369332"/>
              </a:xfrm>
              <a:prstGeom prst="rect">
                <a:avLst/>
              </a:prstGeom>
              <a:blipFill rotWithShape="0">
                <a:blip r:embed="rId5"/>
                <a:stretch>
                  <a:fillRect l="-18750" r="-6250" b="-13115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テキスト ボックス 38"/>
              <p:cNvSpPr txBox="1"/>
              <p:nvPr/>
            </p:nvSpPr>
            <p:spPr>
              <a:xfrm>
                <a:off x="5624353" y="1211816"/>
                <a:ext cx="389466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kumimoji="1" lang="ja-JP" altLang="en-US" sz="2400" dirty="0"/>
              </a:p>
            </p:txBody>
          </p:sp>
        </mc:Choice>
        <mc:Fallback xmlns="">
          <p:sp>
            <p:nvSpPr>
              <p:cNvPr id="39" name="テキスト ボックス 3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4353" y="1211816"/>
                <a:ext cx="389466" cy="369332"/>
              </a:xfrm>
              <a:prstGeom prst="rect">
                <a:avLst/>
              </a:prstGeom>
              <a:blipFill rotWithShape="0">
                <a:blip r:embed="rId6"/>
                <a:stretch>
                  <a:fillRect l="-18750" r="-6250" b="-1500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テキスト ボックス 39"/>
              <p:cNvSpPr txBox="1"/>
              <p:nvPr/>
            </p:nvSpPr>
            <p:spPr>
              <a:xfrm>
                <a:off x="3729526" y="1196879"/>
                <a:ext cx="389466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1" lang="ja-JP" altLang="en-US" sz="2400" dirty="0"/>
              </a:p>
            </p:txBody>
          </p:sp>
        </mc:Choice>
        <mc:Fallback xmlns="">
          <p:sp>
            <p:nvSpPr>
              <p:cNvPr id="40" name="テキスト ボックス 3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29526" y="1196879"/>
                <a:ext cx="389466" cy="369332"/>
              </a:xfrm>
              <a:prstGeom prst="rect">
                <a:avLst/>
              </a:prstGeom>
              <a:blipFill rotWithShape="0">
                <a:blip r:embed="rId7"/>
                <a:stretch>
                  <a:fillRect l="-18750" r="-6250" b="-13115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テキスト ボックス 40"/>
              <p:cNvSpPr txBox="1"/>
              <p:nvPr/>
            </p:nvSpPr>
            <p:spPr>
              <a:xfrm>
                <a:off x="3643847" y="2660166"/>
                <a:ext cx="38234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ja-JP" altLang="en-US" sz="2400" dirty="0"/>
              </a:p>
            </p:txBody>
          </p:sp>
        </mc:Choice>
        <mc:Fallback xmlns="">
          <p:sp>
            <p:nvSpPr>
              <p:cNvPr id="41" name="テキスト ボックス 4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3847" y="2660166"/>
                <a:ext cx="382349" cy="369332"/>
              </a:xfrm>
              <a:prstGeom prst="rect">
                <a:avLst/>
              </a:prstGeom>
              <a:blipFill rotWithShape="0">
                <a:blip r:embed="rId8"/>
                <a:stretch>
                  <a:fillRect l="-19355" r="-8065" b="-13115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269187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3041" y="251884"/>
            <a:ext cx="8315325" cy="3127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3615290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 txBox="1"/>
          <p:nvPr/>
        </p:nvSpPr>
        <p:spPr>
          <a:xfrm>
            <a:off x="3586564" y="1863147"/>
            <a:ext cx="1566967" cy="646331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Attitude angle </a:t>
            </a:r>
          </a:p>
          <a:p>
            <a:pPr algn="ctr"/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generation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テキスト ボックス 3"/>
          <p:cNvSpPr txBox="1"/>
          <p:nvPr/>
        </p:nvSpPr>
        <p:spPr>
          <a:xfrm>
            <a:off x="2239277" y="3175715"/>
            <a:ext cx="2313454" cy="36933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PID p</a:t>
            </a:r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osition controller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テキスト ボックス 4"/>
          <p:cNvSpPr txBox="1"/>
          <p:nvPr/>
        </p:nvSpPr>
        <p:spPr>
          <a:xfrm>
            <a:off x="6113142" y="2001646"/>
            <a:ext cx="1918282" cy="36933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Attitude controller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テキスト ボックス 5"/>
          <p:cNvSpPr txBox="1"/>
          <p:nvPr/>
        </p:nvSpPr>
        <p:spPr>
          <a:xfrm>
            <a:off x="9091660" y="2001646"/>
            <a:ext cx="1239891" cy="36933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Quad-rotor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テキスト ボックス 6"/>
          <p:cNvSpPr txBox="1"/>
          <p:nvPr/>
        </p:nvSpPr>
        <p:spPr>
          <a:xfrm>
            <a:off x="6809159" y="2898716"/>
            <a:ext cx="2547044" cy="92333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Position and </a:t>
            </a:r>
          </a:p>
          <a:p>
            <a:pPr algn="ctr"/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attitude angle estimation</a:t>
            </a:r>
          </a:p>
          <a:p>
            <a:pPr algn="ctr"/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(Extended </a:t>
            </a:r>
            <a:r>
              <a:rPr lang="en-US" altLang="ja-JP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n-US" altLang="ja-JP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alman</a:t>
            </a:r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Filter)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テキスト ボックス 7"/>
          <p:cNvSpPr txBox="1"/>
          <p:nvPr/>
        </p:nvSpPr>
        <p:spPr>
          <a:xfrm>
            <a:off x="6068580" y="3901026"/>
            <a:ext cx="1126783" cy="36933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円/楕円 8"/>
          <p:cNvSpPr/>
          <p:nvPr/>
        </p:nvSpPr>
        <p:spPr>
          <a:xfrm>
            <a:off x="5289521" y="3133840"/>
            <a:ext cx="453081" cy="45308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1" name="直線矢印コネクタ 10"/>
          <p:cNvCxnSpPr>
            <a:stCxn id="7" idx="1"/>
            <a:endCxn id="9" idx="6"/>
          </p:cNvCxnSpPr>
          <p:nvPr/>
        </p:nvCxnSpPr>
        <p:spPr>
          <a:xfrm flipH="1">
            <a:off x="5742602" y="3360381"/>
            <a:ext cx="1066557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カギ線コネクタ 12"/>
          <p:cNvCxnSpPr>
            <a:stCxn id="8" idx="1"/>
            <a:endCxn id="9" idx="4"/>
          </p:cNvCxnSpPr>
          <p:nvPr/>
        </p:nvCxnSpPr>
        <p:spPr>
          <a:xfrm rot="10800000">
            <a:off x="5516062" y="3586922"/>
            <a:ext cx="552518" cy="498771"/>
          </a:xfrm>
          <a:prstGeom prst="bentConnector2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線矢印コネクタ 16"/>
          <p:cNvCxnSpPr>
            <a:stCxn id="9" idx="2"/>
            <a:endCxn id="4" idx="3"/>
          </p:cNvCxnSpPr>
          <p:nvPr/>
        </p:nvCxnSpPr>
        <p:spPr>
          <a:xfrm flipH="1">
            <a:off x="4552731" y="3360381"/>
            <a:ext cx="736790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カギ線コネクタ 23"/>
          <p:cNvCxnSpPr>
            <a:stCxn id="4" idx="1"/>
            <a:endCxn id="2" idx="1"/>
          </p:cNvCxnSpPr>
          <p:nvPr/>
        </p:nvCxnSpPr>
        <p:spPr>
          <a:xfrm rot="10800000" flipH="1">
            <a:off x="2239276" y="2186313"/>
            <a:ext cx="1347287" cy="1174068"/>
          </a:xfrm>
          <a:prstGeom prst="bentConnector3">
            <a:avLst>
              <a:gd name="adj1" fmla="val -16967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カギ線コネクタ 26"/>
          <p:cNvCxnSpPr>
            <a:stCxn id="2" idx="3"/>
            <a:endCxn id="5" idx="1"/>
          </p:cNvCxnSpPr>
          <p:nvPr/>
        </p:nvCxnSpPr>
        <p:spPr>
          <a:xfrm flipV="1">
            <a:off x="5153531" y="2186312"/>
            <a:ext cx="959611" cy="1"/>
          </a:xfrm>
          <a:prstGeom prst="bentConnector3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カギ線コネクタ 29"/>
          <p:cNvCxnSpPr>
            <a:stCxn id="6" idx="2"/>
            <a:endCxn id="7" idx="3"/>
          </p:cNvCxnSpPr>
          <p:nvPr/>
        </p:nvCxnSpPr>
        <p:spPr>
          <a:xfrm rot="5400000">
            <a:off x="9039204" y="2687978"/>
            <a:ext cx="989403" cy="355403"/>
          </a:xfrm>
          <a:prstGeom prst="bentConnector2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直線矢印コネクタ 32"/>
          <p:cNvCxnSpPr>
            <a:stCxn id="5" idx="3"/>
            <a:endCxn id="6" idx="1"/>
          </p:cNvCxnSpPr>
          <p:nvPr/>
        </p:nvCxnSpPr>
        <p:spPr>
          <a:xfrm>
            <a:off x="8031424" y="2186312"/>
            <a:ext cx="1060236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テキスト ボックス 44"/>
              <p:cNvSpPr txBox="1"/>
              <p:nvPr/>
            </p:nvSpPr>
            <p:spPr>
              <a:xfrm>
                <a:off x="5831250" y="2739794"/>
                <a:ext cx="878446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:r>
                  <a:rPr lang="en-US" altLang="ja-JP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</a:t>
                </a:r>
                <a:r>
                  <a:rPr kumimoji="1"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osition: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kumimoji="1" lang="ja-JP" alt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45" name="テキスト ボックス 4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31250" y="2739794"/>
                <a:ext cx="878446" cy="553998"/>
              </a:xfrm>
              <a:prstGeom prst="rect">
                <a:avLst/>
              </a:prstGeom>
              <a:blipFill rotWithShape="0">
                <a:blip r:embed="rId2"/>
                <a:stretch>
                  <a:fillRect l="-16667" t="-14286" r="-15278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テキスト ボックス 45"/>
              <p:cNvSpPr txBox="1"/>
              <p:nvPr/>
            </p:nvSpPr>
            <p:spPr>
              <a:xfrm>
                <a:off x="4567313" y="3718876"/>
                <a:ext cx="820738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:r>
                  <a:rPr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</a:t>
                </a:r>
                <a:r>
                  <a:rPr kumimoji="1"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osition: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46" name="テキスト ボックス 4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67313" y="3718876"/>
                <a:ext cx="820738" cy="553998"/>
              </a:xfrm>
              <a:prstGeom prst="rect">
                <a:avLst/>
              </a:prstGeom>
              <a:blipFill rotWithShape="0">
                <a:blip r:embed="rId3"/>
                <a:stretch>
                  <a:fillRect l="-16296" t="-14286" r="-17037" b="-769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テキスト ボックス 47"/>
              <p:cNvSpPr txBox="1"/>
              <p:nvPr/>
            </p:nvSpPr>
            <p:spPr>
              <a:xfrm>
                <a:off x="4595472" y="2739794"/>
                <a:ext cx="702500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:r>
                  <a:rPr kumimoji="1"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Error: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r>
                        <a:rPr lang="en-US" altLang="ja-JP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acc>
                        <m:accPr>
                          <m:chr m:val="̂"/>
                          <m:ctrlPr>
                            <a:rPr kumimoji="1" lang="en-US" altLang="ja-JP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48" name="テキスト ボックス 4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5472" y="2739794"/>
                <a:ext cx="702500" cy="553998"/>
              </a:xfrm>
              <a:prstGeom prst="rect">
                <a:avLst/>
              </a:prstGeom>
              <a:blipFill rotWithShape="0">
                <a:blip r:embed="rId4"/>
                <a:stretch>
                  <a:fillRect l="-17391" t="-14286" r="-46087" b="-769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テキスト ボックス 48"/>
              <p:cNvSpPr txBox="1"/>
              <p:nvPr/>
            </p:nvSpPr>
            <p:spPr>
              <a:xfrm>
                <a:off x="5561489" y="3580377"/>
                <a:ext cx="23083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kumimoji="1" lang="ja-JP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9" name="テキスト ボックス 4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1489" y="3580377"/>
                <a:ext cx="230832" cy="276999"/>
              </a:xfrm>
              <a:prstGeom prst="rect">
                <a:avLst/>
              </a:prstGeom>
              <a:blipFill rotWithShape="0">
                <a:blip r:embed="rId5"/>
                <a:stretch>
                  <a:fillRect l="-18421" r="-21053" b="-869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テキスト ボックス 49"/>
              <p:cNvSpPr txBox="1"/>
              <p:nvPr/>
            </p:nvSpPr>
            <p:spPr>
              <a:xfrm>
                <a:off x="5837748" y="3356829"/>
                <a:ext cx="23083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ja-JP" altLang="en-US" i="1" smtClean="0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kumimoji="1" lang="ja-JP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0" name="テキスト ボックス 4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37748" y="3356829"/>
                <a:ext cx="230832" cy="276999"/>
              </a:xfrm>
              <a:prstGeom prst="rect">
                <a:avLst/>
              </a:prstGeom>
              <a:blipFill rotWithShape="0">
                <a:blip r:embed="rId6"/>
                <a:stretch>
                  <a:fillRect l="-5263" r="-263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テキスト ボックス 53"/>
          <p:cNvSpPr txBox="1"/>
          <p:nvPr/>
        </p:nvSpPr>
        <p:spPr>
          <a:xfrm>
            <a:off x="2053860" y="2572280"/>
            <a:ext cx="9605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Input: </a:t>
            </a:r>
            <a:r>
              <a:rPr kumimoji="1" lang="en-US" altLang="ja-JP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</a:t>
            </a:r>
            <a:endParaRPr kumimoji="1" lang="ja-JP" alt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5" name="テキスト ボックス 54"/>
              <p:cNvSpPr txBox="1"/>
              <p:nvPr/>
            </p:nvSpPr>
            <p:spPr>
              <a:xfrm>
                <a:off x="8082681" y="1587006"/>
                <a:ext cx="952440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kumimoji="1"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Torque:</a:t>
                </a:r>
                <a:r>
                  <a:rPr lang="ja-JP" altLang="en-US" dirty="0" smtClean="0"/>
                  <a:t> </a:t>
                </a:r>
                <a:endParaRPr lang="en-US" altLang="ja-JP" dirty="0" smtClean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ja-JP" altLang="en-US" i="1" smtClean="0">
                          <a:latin typeface="Cambria Math" panose="02040503050406030204" pitchFamily="18" charset="0"/>
                        </a:rPr>
                        <m:t>𝜏</m:t>
                      </m:r>
                    </m:oMath>
                  </m:oMathPara>
                </a14:m>
                <a:endParaRPr kumimoji="1" lang="en-US" altLang="ja-JP" dirty="0" smtClean="0"/>
              </a:p>
            </p:txBody>
          </p:sp>
        </mc:Choice>
        <mc:Fallback xmlns="">
          <p:sp>
            <p:nvSpPr>
              <p:cNvPr id="55" name="テキスト ボックス 5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2681" y="1587006"/>
                <a:ext cx="952440" cy="646331"/>
              </a:xfrm>
              <a:prstGeom prst="rect">
                <a:avLst/>
              </a:prstGeom>
              <a:blipFill rotWithShape="0">
                <a:blip r:embed="rId7"/>
                <a:stretch>
                  <a:fillRect l="-5769" t="-566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0" name="テキスト ボックス 89"/>
              <p:cNvSpPr txBox="1"/>
              <p:nvPr/>
            </p:nvSpPr>
            <p:spPr>
              <a:xfrm>
                <a:off x="5222967" y="1633172"/>
                <a:ext cx="820738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:r>
                  <a:rPr kumimoji="1"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Attitude: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kumimoji="1" lang="el-GR" altLang="ja-JP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90" name="テキスト ボックス 8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22967" y="1633172"/>
                <a:ext cx="820738" cy="553998"/>
              </a:xfrm>
              <a:prstGeom prst="rect">
                <a:avLst/>
              </a:prstGeom>
              <a:blipFill rotWithShape="0">
                <a:blip r:embed="rId8"/>
                <a:stretch>
                  <a:fillRect l="-17910" t="-14286" r="-17164" b="-769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868607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06923" y="1194487"/>
            <a:ext cx="6728839" cy="5013242"/>
          </a:xfrm>
          <a:prstGeom prst="rect">
            <a:avLst/>
          </a:prstGeom>
        </p:spPr>
      </p:pic>
      <p:cxnSp>
        <p:nvCxnSpPr>
          <p:cNvPr id="4" name="直線矢印コネクタ 3"/>
          <p:cNvCxnSpPr/>
          <p:nvPr/>
        </p:nvCxnSpPr>
        <p:spPr>
          <a:xfrm flipH="1">
            <a:off x="4786184" y="2981412"/>
            <a:ext cx="766118" cy="1071604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線矢印コネクタ 5"/>
          <p:cNvCxnSpPr/>
          <p:nvPr/>
        </p:nvCxnSpPr>
        <p:spPr>
          <a:xfrm flipH="1" flipV="1">
            <a:off x="4094205" y="1787611"/>
            <a:ext cx="1285104" cy="593125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直線矢印コネクタ 6"/>
          <p:cNvCxnSpPr/>
          <p:nvPr/>
        </p:nvCxnSpPr>
        <p:spPr>
          <a:xfrm flipH="1" flipV="1">
            <a:off x="5861959" y="1017373"/>
            <a:ext cx="0" cy="88556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テキスト ボックス 8"/>
              <p:cNvSpPr txBox="1"/>
              <p:nvPr/>
            </p:nvSpPr>
            <p:spPr>
              <a:xfrm>
                <a:off x="5587653" y="555708"/>
                <a:ext cx="54861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  <a:endParaRPr kumimoji="1" lang="ja-JP" altLang="en-US" sz="2400" dirty="0"/>
              </a:p>
            </p:txBody>
          </p:sp>
        </mc:Choice>
        <mc:Fallback xmlns="">
          <p:sp>
            <p:nvSpPr>
              <p:cNvPr id="9" name="テキスト ボックス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7653" y="555708"/>
                <a:ext cx="548612" cy="461665"/>
              </a:xfrm>
              <a:prstGeom prst="rect">
                <a:avLst/>
              </a:prstGeom>
              <a:blipFill rotWithShape="0">
                <a:blip r:embed="rId3"/>
                <a:stretch>
                  <a:fillRect b="-263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テキスト ボックス 9"/>
              <p:cNvSpPr txBox="1"/>
              <p:nvPr/>
            </p:nvSpPr>
            <p:spPr>
              <a:xfrm>
                <a:off x="4375029" y="3875044"/>
                <a:ext cx="56925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  <a:endParaRPr kumimoji="1" lang="ja-JP" altLang="en-US" sz="2400" dirty="0"/>
              </a:p>
            </p:txBody>
          </p:sp>
        </mc:Choice>
        <mc:Fallback xmlns="">
          <p:sp>
            <p:nvSpPr>
              <p:cNvPr id="10" name="テキスト ボックス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5029" y="3875044"/>
                <a:ext cx="569258" cy="461665"/>
              </a:xfrm>
              <a:prstGeom prst="rect">
                <a:avLst/>
              </a:prstGeom>
              <a:blipFill rotWithShape="0">
                <a:blip r:embed="rId4"/>
                <a:stretch>
                  <a:fillRect b="-1066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テキスト ボックス 10"/>
              <p:cNvSpPr txBox="1"/>
              <p:nvPr/>
            </p:nvSpPr>
            <p:spPr>
              <a:xfrm>
                <a:off x="3600821" y="1414677"/>
                <a:ext cx="56752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  <a:endParaRPr kumimoji="1" lang="ja-JP" altLang="en-US" sz="2400" dirty="0"/>
              </a:p>
            </p:txBody>
          </p:sp>
        </mc:Choice>
        <mc:Fallback xmlns="">
          <p:sp>
            <p:nvSpPr>
              <p:cNvPr id="11" name="テキスト ボックス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0821" y="1414677"/>
                <a:ext cx="567527" cy="461665"/>
              </a:xfrm>
              <a:prstGeom prst="rect">
                <a:avLst/>
              </a:prstGeom>
              <a:blipFill rotWithShape="0">
                <a:blip r:embed="rId5"/>
                <a:stretch>
                  <a:fillRect b="-263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テキスト ボックス 12"/>
          <p:cNvSpPr txBox="1"/>
          <p:nvPr/>
        </p:nvSpPr>
        <p:spPr>
          <a:xfrm>
            <a:off x="1447066" y="4692185"/>
            <a:ext cx="3581894" cy="1815882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en-US" altLang="ja-JP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650g, </a:t>
            </a:r>
            <a:r>
              <a:rPr lang="en-US" altLang="ja-JP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2633KV</a:t>
            </a:r>
          </a:p>
          <a:p>
            <a:r>
              <a:rPr kumimoji="1" lang="en-US" altLang="ja-JP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Propeller(Inch): </a:t>
            </a:r>
          </a:p>
          <a:p>
            <a:r>
              <a:rPr kumimoji="1" lang="en-US" altLang="ja-JP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5(diameter) × </a:t>
            </a:r>
            <a:r>
              <a:rPr lang="en-US" altLang="ja-JP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3(pitch)</a:t>
            </a:r>
            <a:endParaRPr kumimoji="1" lang="en-US" altLang="ja-JP" sz="28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ja-JP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LiPo (3Cell 1800mAh)</a:t>
            </a:r>
            <a:endParaRPr kumimoji="1" lang="ja-JP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393791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/>
        </p:nvSpPr>
        <p:spPr>
          <a:xfrm rot="19931376">
            <a:off x="3585771" y="3595330"/>
            <a:ext cx="4780547" cy="28800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/>
          <p:cNvSpPr/>
          <p:nvPr/>
        </p:nvSpPr>
        <p:spPr>
          <a:xfrm rot="2056883">
            <a:off x="4141491" y="3505914"/>
            <a:ext cx="4391980" cy="28800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円/楕円 3"/>
          <p:cNvSpPr/>
          <p:nvPr/>
        </p:nvSpPr>
        <p:spPr>
          <a:xfrm>
            <a:off x="3593473" y="2074435"/>
            <a:ext cx="2101516" cy="70585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円/楕円 4"/>
          <p:cNvSpPr/>
          <p:nvPr/>
        </p:nvSpPr>
        <p:spPr>
          <a:xfrm>
            <a:off x="6641392" y="4477455"/>
            <a:ext cx="2101516" cy="70585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円/楕円 5"/>
          <p:cNvSpPr/>
          <p:nvPr/>
        </p:nvSpPr>
        <p:spPr>
          <a:xfrm>
            <a:off x="2743915" y="4477455"/>
            <a:ext cx="2101516" cy="70585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円/楕円 6"/>
          <p:cNvSpPr/>
          <p:nvPr/>
        </p:nvSpPr>
        <p:spPr>
          <a:xfrm>
            <a:off x="7374934" y="2074435"/>
            <a:ext cx="2101516" cy="70585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2" name="直線矢印コネクタ 11"/>
          <p:cNvCxnSpPr/>
          <p:nvPr/>
        </p:nvCxnSpPr>
        <p:spPr>
          <a:xfrm flipV="1">
            <a:off x="6219475" y="3580745"/>
            <a:ext cx="3192807" cy="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矢印コネクタ 13"/>
          <p:cNvCxnSpPr/>
          <p:nvPr/>
        </p:nvCxnSpPr>
        <p:spPr>
          <a:xfrm flipH="1">
            <a:off x="5358423" y="3578151"/>
            <a:ext cx="901517" cy="1769298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線矢印コネクタ 15"/>
          <p:cNvCxnSpPr/>
          <p:nvPr/>
        </p:nvCxnSpPr>
        <p:spPr>
          <a:xfrm flipV="1">
            <a:off x="6246324" y="1347537"/>
            <a:ext cx="26989" cy="226668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円弧 26"/>
          <p:cNvSpPr/>
          <p:nvPr/>
        </p:nvSpPr>
        <p:spPr>
          <a:xfrm rot="5400000">
            <a:off x="8399058" y="3377401"/>
            <a:ext cx="838222" cy="401500"/>
          </a:xfrm>
          <a:prstGeom prst="arc">
            <a:avLst>
              <a:gd name="adj1" fmla="val 19914093"/>
              <a:gd name="adj2" fmla="val 12796226"/>
            </a:avLst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二等辺三角形 28"/>
          <p:cNvSpPr/>
          <p:nvPr/>
        </p:nvSpPr>
        <p:spPr>
          <a:xfrm rot="1984793">
            <a:off x="8898967" y="3652710"/>
            <a:ext cx="213684" cy="244592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円弧 29"/>
          <p:cNvSpPr/>
          <p:nvPr/>
        </p:nvSpPr>
        <p:spPr>
          <a:xfrm rot="17972248">
            <a:off x="5359566" y="4400673"/>
            <a:ext cx="512992" cy="914400"/>
          </a:xfrm>
          <a:prstGeom prst="arc">
            <a:avLst>
              <a:gd name="adj1" fmla="val 13516689"/>
              <a:gd name="adj2" fmla="val 8083539"/>
            </a:avLst>
          </a:prstGeom>
          <a:noFill/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二等辺三角形 30"/>
          <p:cNvSpPr/>
          <p:nvPr/>
        </p:nvSpPr>
        <p:spPr>
          <a:xfrm rot="7590178">
            <a:off x="5212816" y="4796971"/>
            <a:ext cx="218236" cy="263188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" name="円弧 31"/>
          <p:cNvSpPr/>
          <p:nvPr/>
        </p:nvSpPr>
        <p:spPr>
          <a:xfrm>
            <a:off x="5747293" y="1625032"/>
            <a:ext cx="998062" cy="401500"/>
          </a:xfrm>
          <a:prstGeom prst="arc">
            <a:avLst>
              <a:gd name="adj1" fmla="val 19914093"/>
              <a:gd name="adj2" fmla="val 12796226"/>
            </a:avLst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二等辺三角形 32"/>
          <p:cNvSpPr/>
          <p:nvPr/>
        </p:nvSpPr>
        <p:spPr>
          <a:xfrm rot="3922974">
            <a:off x="5908335" y="1506195"/>
            <a:ext cx="232833" cy="237674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4" name="テキスト ボックス 33"/>
              <p:cNvSpPr txBox="1"/>
              <p:nvPr/>
            </p:nvSpPr>
            <p:spPr>
              <a:xfrm>
                <a:off x="5816232" y="531810"/>
                <a:ext cx="914161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sz="4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sz="48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kumimoji="1" lang="en-US" altLang="ja-JP" sz="4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  <a:endParaRPr kumimoji="1" lang="ja-JP" altLang="en-US" sz="4800" dirty="0"/>
              </a:p>
            </p:txBody>
          </p:sp>
        </mc:Choice>
        <mc:Fallback>
          <p:sp>
            <p:nvSpPr>
              <p:cNvPr id="34" name="テキスト ボックス 3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6232" y="531810"/>
                <a:ext cx="914161" cy="830997"/>
              </a:xfrm>
              <a:prstGeom prst="rect">
                <a:avLst/>
              </a:prstGeom>
              <a:blipFill rotWithShape="0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5" name="テキスト ボックス 34"/>
              <p:cNvSpPr txBox="1"/>
              <p:nvPr/>
            </p:nvSpPr>
            <p:spPr>
              <a:xfrm>
                <a:off x="9318280" y="3086345"/>
                <a:ext cx="956993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sz="4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sz="4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kumimoji="1" lang="en-US" altLang="ja-JP" sz="4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  <a:endParaRPr kumimoji="1" lang="ja-JP" altLang="en-US" sz="4800" dirty="0"/>
              </a:p>
            </p:txBody>
          </p:sp>
        </mc:Choice>
        <mc:Fallback>
          <p:sp>
            <p:nvSpPr>
              <p:cNvPr id="35" name="テキスト ボックス 3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18280" y="3086345"/>
                <a:ext cx="956993" cy="830997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6" name="テキスト ボックス 35"/>
              <p:cNvSpPr txBox="1"/>
              <p:nvPr/>
            </p:nvSpPr>
            <p:spPr>
              <a:xfrm>
                <a:off x="4828875" y="5190532"/>
                <a:ext cx="951991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sz="4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sz="4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1" lang="en-US" altLang="ja-JP" sz="4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  <a:endParaRPr kumimoji="1" lang="ja-JP" altLang="en-US" sz="4800" dirty="0"/>
              </a:p>
            </p:txBody>
          </p:sp>
        </mc:Choice>
        <mc:Fallback>
          <p:sp>
            <p:nvSpPr>
              <p:cNvPr id="36" name="テキスト ボックス 3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28875" y="5190532"/>
                <a:ext cx="951991" cy="830997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7" name="テキスト ボックス 36"/>
              <p:cNvSpPr txBox="1"/>
              <p:nvPr/>
            </p:nvSpPr>
            <p:spPr>
              <a:xfrm>
                <a:off x="5892056" y="3684841"/>
                <a:ext cx="940066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sz="4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sz="4800" b="0" i="1" smtClean="0">
                              <a:latin typeface="Cambria Math" panose="02040503050406030204" pitchFamily="18" charset="0"/>
                            </a:rPr>
                            <m:t>𝑜</m:t>
                          </m:r>
                        </m:e>
                        <m:sub>
                          <m:r>
                            <a:rPr kumimoji="1" lang="en-US" altLang="ja-JP" sz="4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  <a:endParaRPr kumimoji="1" lang="ja-JP" altLang="en-US" sz="4800" dirty="0"/>
              </a:p>
            </p:txBody>
          </p:sp>
        </mc:Choice>
        <mc:Fallback>
          <p:sp>
            <p:nvSpPr>
              <p:cNvPr id="37" name="テキスト ボックス 3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2056" y="3684841"/>
                <a:ext cx="940066" cy="830997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8" name="テキスト ボックス 37"/>
              <p:cNvSpPr txBox="1"/>
              <p:nvPr/>
            </p:nvSpPr>
            <p:spPr>
              <a:xfrm>
                <a:off x="6940470" y="1397207"/>
                <a:ext cx="1385572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kumimoji="1" lang="ja-JP" altLang="en-US" sz="3600" i="1" smtClean="0">
                        <a:latin typeface="Cambria Math" panose="02040503050406030204" pitchFamily="18" charset="0"/>
                      </a:rPr>
                      <m:t>𝜓</m:t>
                    </m:r>
                  </m:oMath>
                </a14:m>
                <a:r>
                  <a:rPr kumimoji="1" lang="en-US" altLang="ja-JP" sz="3600" dirty="0" smtClean="0"/>
                  <a:t>: </a:t>
                </a:r>
                <a:r>
                  <a:rPr kumimoji="1" lang="en-US" altLang="ja-JP" sz="36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Yaw</a:t>
                </a:r>
                <a:endParaRPr kumimoji="1" lang="ja-JP" altLang="en-US" sz="3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8" name="テキスト ボックス 3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0470" y="1397207"/>
                <a:ext cx="1385572" cy="553998"/>
              </a:xfrm>
              <a:prstGeom prst="rect">
                <a:avLst/>
              </a:prstGeom>
              <a:blipFill rotWithShape="0">
                <a:blip r:embed="rId6"/>
                <a:stretch>
                  <a:fillRect t="-27473" r="-18062" b="-50549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9" name="テキスト ボックス 38"/>
              <p:cNvSpPr txBox="1"/>
              <p:nvPr/>
            </p:nvSpPr>
            <p:spPr>
              <a:xfrm>
                <a:off x="8686964" y="4120536"/>
                <a:ext cx="1295932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kumimoji="1" lang="ja-JP" altLang="en-US" sz="360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kumimoji="1" lang="en-US" altLang="ja-JP" sz="3600" dirty="0" smtClean="0"/>
                  <a:t>: </a:t>
                </a:r>
                <a:r>
                  <a:rPr lang="en-US" altLang="ja-JP" sz="36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Roll</a:t>
                </a:r>
                <a:endParaRPr kumimoji="1" lang="ja-JP" altLang="en-US" sz="3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9" name="テキスト ボックス 3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6964" y="4120536"/>
                <a:ext cx="1295932" cy="553998"/>
              </a:xfrm>
              <a:prstGeom prst="rect">
                <a:avLst/>
              </a:prstGeom>
              <a:blipFill rotWithShape="0">
                <a:blip r:embed="rId7"/>
                <a:stretch>
                  <a:fillRect l="-469" t="-27473" r="-20657" b="-49451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0" name="テキスト ボックス 39"/>
              <p:cNvSpPr txBox="1"/>
              <p:nvPr/>
            </p:nvSpPr>
            <p:spPr>
              <a:xfrm>
                <a:off x="5792475" y="5215156"/>
                <a:ext cx="1502334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kumimoji="1" lang="ja-JP" altLang="en-US" sz="3600" i="1" smtClean="0">
                        <a:latin typeface="Cambria Math" panose="02040503050406030204" pitchFamily="18" charset="0"/>
                      </a:rPr>
                      <m:t>𝜙</m:t>
                    </m:r>
                  </m:oMath>
                </a14:m>
                <a:r>
                  <a:rPr kumimoji="1" lang="en-US" altLang="ja-JP" sz="3600" dirty="0" smtClean="0"/>
                  <a:t>: </a:t>
                </a:r>
                <a:r>
                  <a:rPr lang="en-US" altLang="ja-JP" sz="36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Pitch</a:t>
                </a:r>
                <a:endParaRPr kumimoji="1" lang="ja-JP" altLang="en-US" sz="3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40" name="テキスト ボックス 3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92475" y="5215156"/>
                <a:ext cx="1502334" cy="553998"/>
              </a:xfrm>
              <a:prstGeom prst="rect">
                <a:avLst/>
              </a:prstGeom>
              <a:blipFill rotWithShape="0">
                <a:blip r:embed="rId8"/>
                <a:stretch>
                  <a:fillRect t="-27778" r="-18219" b="-51111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349999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ローチャート: データ 1"/>
          <p:cNvSpPr/>
          <p:nvPr/>
        </p:nvSpPr>
        <p:spPr>
          <a:xfrm rot="1242852">
            <a:off x="3294509" y="1720057"/>
            <a:ext cx="6262237" cy="3346085"/>
          </a:xfrm>
          <a:prstGeom prst="flowChartInputOutput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円/楕円 2"/>
          <p:cNvSpPr/>
          <p:nvPr/>
        </p:nvSpPr>
        <p:spPr>
          <a:xfrm>
            <a:off x="2037347" y="3393099"/>
            <a:ext cx="563002" cy="56300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186851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7821</TotalTime>
  <Words>282</Words>
  <Application>Microsoft Office PowerPoint</Application>
  <PresentationFormat>ワイド画面</PresentationFormat>
  <Paragraphs>129</Paragraphs>
  <Slides>13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13</vt:i4>
      </vt:variant>
    </vt:vector>
  </HeadingPairs>
  <TitlesOfParts>
    <vt:vector size="20" baseType="lpstr">
      <vt:lpstr>ＭＳ Ｐゴシック</vt:lpstr>
      <vt:lpstr>Arial</vt:lpstr>
      <vt:lpstr>Calibri</vt:lpstr>
      <vt:lpstr>Calibri Light</vt:lpstr>
      <vt:lpstr>Cambria Math</vt:lpstr>
      <vt:lpstr>Times New Roman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翔太</dc:creator>
  <cp:lastModifiedBy>中村 翔太</cp:lastModifiedBy>
  <cp:revision>69</cp:revision>
  <dcterms:created xsi:type="dcterms:W3CDTF">2019-06-16T04:41:44Z</dcterms:created>
  <dcterms:modified xsi:type="dcterms:W3CDTF">2019-12-21T09:45:10Z</dcterms:modified>
</cp:coreProperties>
</file>