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70" r:id="rId10"/>
    <p:sldId id="265" r:id="rId11"/>
    <p:sldId id="266" r:id="rId12"/>
    <p:sldId id="267" r:id="rId13"/>
    <p:sldId id="268" r:id="rId14"/>
    <p:sldId id="269" r:id="rId15"/>
    <p:sldId id="271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2019/12/29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28211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2019/12/29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9194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2019/12/29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50609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2019/12/29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776428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2019/12/29</a:t>
            </a:fld>
            <a:endParaRPr kumimoji="1" lang="ja-JP" altLang="en-US" dirty="0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82210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2019/12/29</a:t>
            </a:fld>
            <a:endParaRPr kumimoji="1" lang="ja-JP" altLang="en-US" dirty="0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9565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2019/12/29</a:t>
            </a:fld>
            <a:endParaRPr kumimoji="1" lang="ja-JP" altLang="en-US" dirty="0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89633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2019/12/29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33693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2019/12/29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06994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2019/12/29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29609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2019/12/29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11837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391B90-8A79-412C-89FE-F2A94E6B2FAF}" type="datetimeFigureOut">
              <a:rPr kumimoji="1" lang="ja-JP" altLang="en-US" smtClean="0"/>
              <a:t>2019/12/29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17401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jpeg"/><Relationship Id="rId7" Type="http://schemas.openxmlformats.org/officeDocument/2006/relationships/image" Target="../media/image24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0.png"/><Relationship Id="rId7" Type="http://schemas.openxmlformats.org/officeDocument/2006/relationships/image" Target="../media/image32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0.png"/><Relationship Id="rId5" Type="http://schemas.openxmlformats.org/officeDocument/2006/relationships/image" Target="../media/image300.png"/><Relationship Id="rId4" Type="http://schemas.openxmlformats.org/officeDocument/2006/relationships/image" Target="../media/image29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3996" y="4727559"/>
            <a:ext cx="1787456" cy="1150723"/>
          </a:xfrm>
          <a:prstGeom prst="rect">
            <a:avLst/>
          </a:prstGeom>
          <a:ln w="12700">
            <a:noFill/>
          </a:ln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3757" y="2602763"/>
            <a:ext cx="1496541" cy="1496541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112" y="244210"/>
            <a:ext cx="1716045" cy="1716045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4901" y="175695"/>
            <a:ext cx="1853074" cy="1853074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3651" y="2370126"/>
            <a:ext cx="1931773" cy="1931773"/>
          </a:xfrm>
          <a:prstGeom prst="rect">
            <a:avLst/>
          </a:prstGeom>
          <a:ln w="12700">
            <a:noFill/>
          </a:ln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0027" y="4409227"/>
            <a:ext cx="1430830" cy="1430830"/>
          </a:xfrm>
          <a:prstGeom prst="rect">
            <a:avLst/>
          </a:prstGeom>
          <a:ln w="12700">
            <a:noFill/>
          </a:ln>
        </p:spPr>
      </p:pic>
      <p:cxnSp>
        <p:nvCxnSpPr>
          <p:cNvPr id="12" name="直線コネクタ 11"/>
          <p:cNvCxnSpPr>
            <a:stCxn id="47" idx="3"/>
            <a:endCxn id="10" idx="1"/>
          </p:cNvCxnSpPr>
          <p:nvPr/>
        </p:nvCxnSpPr>
        <p:spPr>
          <a:xfrm flipV="1">
            <a:off x="6501413" y="5124642"/>
            <a:ext cx="93861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線コネクタ 14"/>
          <p:cNvCxnSpPr>
            <a:stCxn id="5" idx="3"/>
            <a:endCxn id="40" idx="1"/>
          </p:cNvCxnSpPr>
          <p:nvPr/>
        </p:nvCxnSpPr>
        <p:spPr>
          <a:xfrm>
            <a:off x="3640298" y="3351034"/>
            <a:ext cx="86695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コネクタ 16"/>
          <p:cNvCxnSpPr>
            <a:stCxn id="6" idx="3"/>
            <a:endCxn id="8" idx="1"/>
          </p:cNvCxnSpPr>
          <p:nvPr/>
        </p:nvCxnSpPr>
        <p:spPr>
          <a:xfrm flipV="1">
            <a:off x="6331157" y="1102232"/>
            <a:ext cx="793744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コネクタ 18"/>
          <p:cNvCxnSpPr>
            <a:stCxn id="6" idx="2"/>
            <a:endCxn id="40" idx="0"/>
          </p:cNvCxnSpPr>
          <p:nvPr/>
        </p:nvCxnSpPr>
        <p:spPr>
          <a:xfrm>
            <a:off x="5473135" y="1960255"/>
            <a:ext cx="0" cy="424893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線コネクタ 20"/>
          <p:cNvCxnSpPr>
            <a:endCxn id="4" idx="0"/>
          </p:cNvCxnSpPr>
          <p:nvPr/>
        </p:nvCxnSpPr>
        <p:spPr>
          <a:xfrm>
            <a:off x="5538488" y="4451945"/>
            <a:ext cx="0" cy="27561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テキスト ボックス 24"/>
          <p:cNvSpPr txBox="1"/>
          <p:nvPr/>
        </p:nvSpPr>
        <p:spPr>
          <a:xfrm>
            <a:off x="6653966" y="5106141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USB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テキスト ボックス 26"/>
          <p:cNvSpPr txBox="1"/>
          <p:nvPr/>
        </p:nvSpPr>
        <p:spPr>
          <a:xfrm>
            <a:off x="3809812" y="2981701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I2C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テキスト ボックス 27"/>
          <p:cNvSpPr txBox="1"/>
          <p:nvPr/>
        </p:nvSpPr>
        <p:spPr>
          <a:xfrm>
            <a:off x="5512444" y="1988035"/>
            <a:ext cx="799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6468983" y="1102232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テキスト ボックス 30"/>
          <p:cNvSpPr txBox="1"/>
          <p:nvPr/>
        </p:nvSpPr>
        <p:spPr>
          <a:xfrm>
            <a:off x="7433319" y="1673031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DWM1000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4553651" y="1583434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Arduino</a:t>
            </a:r>
            <a:r>
              <a:rPr lang="ja-JP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 Mini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テキスト ボックス 32"/>
          <p:cNvSpPr txBox="1"/>
          <p:nvPr/>
        </p:nvSpPr>
        <p:spPr>
          <a:xfrm>
            <a:off x="2313429" y="3784496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VL53L0X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テキスト ボックス 33"/>
          <p:cNvSpPr txBox="1"/>
          <p:nvPr/>
        </p:nvSpPr>
        <p:spPr>
          <a:xfrm>
            <a:off x="5059724" y="4082613"/>
            <a:ext cx="1014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NAVIO2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テキスト ボックス 34"/>
          <p:cNvSpPr txBox="1"/>
          <p:nvPr/>
        </p:nvSpPr>
        <p:spPr>
          <a:xfrm>
            <a:off x="4885868" y="5851791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Raspberry Pi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7682073" y="5840057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Pixracer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正方形/長方形 39"/>
          <p:cNvSpPr/>
          <p:nvPr/>
        </p:nvSpPr>
        <p:spPr>
          <a:xfrm>
            <a:off x="4507249" y="2385148"/>
            <a:ext cx="2041832" cy="2075097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/>
          <p:cNvSpPr/>
          <p:nvPr/>
        </p:nvSpPr>
        <p:spPr>
          <a:xfrm>
            <a:off x="4647542" y="4719259"/>
            <a:ext cx="1853871" cy="150168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1" name="正方形/長方形 50"/>
          <p:cNvSpPr/>
          <p:nvPr/>
        </p:nvSpPr>
        <p:spPr>
          <a:xfrm>
            <a:off x="7450240" y="4409227"/>
            <a:ext cx="1420618" cy="180016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/>
          <p:cNvSpPr txBox="1"/>
          <p:nvPr/>
        </p:nvSpPr>
        <p:spPr>
          <a:xfrm>
            <a:off x="7169457" y="1994517"/>
            <a:ext cx="1935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 antenna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3027163" y="1923103"/>
            <a:ext cx="2198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 controller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テキスト ボックス 6"/>
          <p:cNvSpPr txBox="1"/>
          <p:nvPr/>
        </p:nvSpPr>
        <p:spPr>
          <a:xfrm>
            <a:off x="1843080" y="4051617"/>
            <a:ext cx="2124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sensor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7169457" y="6139870"/>
            <a:ext cx="2195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Fright controller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4553651" y="6139870"/>
            <a:ext cx="20714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Main computer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6507685" y="3929414"/>
            <a:ext cx="1836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Sensor board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1202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4767900" y="1357031"/>
            <a:ext cx="158889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 Modules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/>
              <p:cNvSpPr txBox="1"/>
              <p:nvPr/>
            </p:nvSpPr>
            <p:spPr>
              <a:xfrm>
                <a:off x="3644741" y="2499695"/>
                <a:ext cx="3835216" cy="68634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estimate p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osition, velocity and 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attitude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altLang="ja-JP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𝜓</m:t>
                          </m:r>
                        </m:e>
                      </m:acc>
                    </m:oMath>
                  </m:oMathPara>
                </a14:m>
                <a:endParaRPr kumimoji="1" lang="en-US" altLang="ja-JP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テキスト ボックス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741" y="2499695"/>
                <a:ext cx="3835216" cy="686342"/>
              </a:xfrm>
              <a:prstGeom prst="rect">
                <a:avLst/>
              </a:prstGeom>
              <a:blipFill rotWithShape="0">
                <a:blip r:embed="rId2"/>
                <a:stretch>
                  <a:fillRect l="-792" t="-3478" r="-475" b="-347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/>
          <p:cNvCxnSpPr>
            <a:stCxn id="2" idx="2"/>
            <a:endCxn id="3" idx="0"/>
          </p:cNvCxnSpPr>
          <p:nvPr/>
        </p:nvCxnSpPr>
        <p:spPr>
          <a:xfrm>
            <a:off x="5562349" y="1726363"/>
            <a:ext cx="0" cy="7733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/>
              <p:cNvSpPr txBox="1"/>
              <p:nvPr/>
            </p:nvSpPr>
            <p:spPr>
              <a:xfrm>
                <a:off x="5626461" y="1686178"/>
                <a:ext cx="3447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distance between Anchors and Tag: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テキスト ボックス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461" y="1686178"/>
                <a:ext cx="3447419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1062" t="-5660" r="-70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テキスト ボックス 6"/>
          <p:cNvSpPr txBox="1"/>
          <p:nvPr/>
        </p:nvSpPr>
        <p:spPr>
          <a:xfrm>
            <a:off x="657157" y="2658200"/>
            <a:ext cx="16748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Sensor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線矢印コネクタ 8"/>
          <p:cNvCxnSpPr>
            <a:stCxn id="7" idx="3"/>
            <a:endCxn id="3" idx="1"/>
          </p:cNvCxnSpPr>
          <p:nvPr/>
        </p:nvCxnSpPr>
        <p:spPr>
          <a:xfrm>
            <a:off x="2332039" y="2842866"/>
            <a:ext cx="131270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/>
          <p:cNvSpPr txBox="1"/>
          <p:nvPr/>
        </p:nvSpPr>
        <p:spPr>
          <a:xfrm>
            <a:off x="2315291" y="2816705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altitude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1" lang="en-US" altLang="ja-JP" i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kumimoji="1" lang="ja-JP" altLang="en-US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テキスト ボックス 25"/>
          <p:cNvSpPr txBox="1"/>
          <p:nvPr/>
        </p:nvSpPr>
        <p:spPr>
          <a:xfrm>
            <a:off x="9652016" y="2434211"/>
            <a:ext cx="10141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NAVIO2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" name="直線矢印コネクタ 27"/>
          <p:cNvCxnSpPr>
            <a:stCxn id="26" idx="1"/>
          </p:cNvCxnSpPr>
          <p:nvPr/>
        </p:nvCxnSpPr>
        <p:spPr>
          <a:xfrm flipH="1" flipV="1">
            <a:off x="7479958" y="2605441"/>
            <a:ext cx="217205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テキスト ボックス 28"/>
              <p:cNvSpPr txBox="1"/>
              <p:nvPr/>
            </p:nvSpPr>
            <p:spPr>
              <a:xfrm>
                <a:off x="7672245" y="2634610"/>
                <a:ext cx="2203167" cy="9452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cceleration and </a:t>
                </a:r>
              </a:p>
              <a:p>
                <a:pPr algn="ctr"/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angular velocity: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9" name="テキスト ボックス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2245" y="2634610"/>
                <a:ext cx="2203167" cy="945259"/>
              </a:xfrm>
              <a:prstGeom prst="rect">
                <a:avLst/>
              </a:prstGeom>
              <a:blipFill rotWithShape="0">
                <a:blip r:embed="rId4"/>
                <a:stretch>
                  <a:fillRect t="-3226" b="-12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テキスト ボックス 30"/>
          <p:cNvSpPr txBox="1"/>
          <p:nvPr/>
        </p:nvSpPr>
        <p:spPr>
          <a:xfrm>
            <a:off x="4431264" y="4177205"/>
            <a:ext cx="228780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alculate desired angle</a:t>
            </a:r>
          </a:p>
        </p:txBody>
      </p:sp>
      <p:cxnSp>
        <p:nvCxnSpPr>
          <p:cNvPr id="36" name="直線矢印コネクタ 35"/>
          <p:cNvCxnSpPr>
            <a:stCxn id="3" idx="2"/>
            <a:endCxn id="76" idx="0"/>
          </p:cNvCxnSpPr>
          <p:nvPr/>
        </p:nvCxnSpPr>
        <p:spPr>
          <a:xfrm>
            <a:off x="5562349" y="3186037"/>
            <a:ext cx="0" cy="41504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/>
          <p:cNvCxnSpPr/>
          <p:nvPr/>
        </p:nvCxnSpPr>
        <p:spPr>
          <a:xfrm flipH="1">
            <a:off x="6731894" y="3855309"/>
            <a:ext cx="116819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テキスト ボックス 40"/>
              <p:cNvSpPr txBox="1"/>
              <p:nvPr/>
            </p:nvSpPr>
            <p:spPr>
              <a:xfrm>
                <a:off x="7913335" y="3670643"/>
                <a:ext cx="22457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et position: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" name="テキスト ボックス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3335" y="3670643"/>
                <a:ext cx="2245743" cy="369332"/>
              </a:xfrm>
              <a:prstGeom prst="rect">
                <a:avLst/>
              </a:prstGeom>
              <a:blipFill rotWithShape="0">
                <a:blip r:embed="rId5"/>
                <a:stretch>
                  <a:fillRect l="-2168" t="-8197" b="-245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テキスト ボックス 44"/>
          <p:cNvSpPr txBox="1"/>
          <p:nvPr/>
        </p:nvSpPr>
        <p:spPr>
          <a:xfrm>
            <a:off x="4596620" y="6243311"/>
            <a:ext cx="196079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7" name="直線矢印コネクタ 46"/>
          <p:cNvCxnSpPr>
            <a:stCxn id="31" idx="2"/>
            <a:endCxn id="66" idx="0"/>
          </p:cNvCxnSpPr>
          <p:nvPr/>
        </p:nvCxnSpPr>
        <p:spPr>
          <a:xfrm>
            <a:off x="5575167" y="4546537"/>
            <a:ext cx="0" cy="4532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テキスト ボックス 47"/>
              <p:cNvSpPr txBox="1"/>
              <p:nvPr/>
            </p:nvSpPr>
            <p:spPr>
              <a:xfrm>
                <a:off x="5587989" y="5476863"/>
                <a:ext cx="38651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ver ride servo input(1000~2000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ja-JP" altLang="en-US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μ</m:t>
                    </m:r>
                    <m:r>
                      <m:rPr>
                        <m:sty m:val="p"/>
                      </m:rPr>
                      <a:rPr kumimoji="1" lang="en-US" altLang="ja-JP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sec</m:t>
                    </m:r>
                  </m:oMath>
                </a14:m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</a:p>
              <a:p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Ch1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Ch2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Ch3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Ch4</a:t>
                </a:r>
                <a:endParaRPr kumimoji="1" lang="ja-JP" altLang="en-US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テキスト ボックス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89" y="5476863"/>
                <a:ext cx="3865161" cy="646331"/>
              </a:xfrm>
              <a:prstGeom prst="rect">
                <a:avLst/>
              </a:prstGeom>
              <a:blipFill rotWithShape="0">
                <a:blip r:embed="rId6"/>
                <a:stretch>
                  <a:fillRect l="-1420" t="-4717" r="-158" b="-141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テキスト ボックス 65"/>
          <p:cNvSpPr txBox="1"/>
          <p:nvPr/>
        </p:nvSpPr>
        <p:spPr>
          <a:xfrm>
            <a:off x="4174783" y="4999773"/>
            <a:ext cx="280076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hange angle to servo signal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テキスト ボックス 66"/>
              <p:cNvSpPr txBox="1"/>
              <p:nvPr/>
            </p:nvSpPr>
            <p:spPr>
              <a:xfrm>
                <a:off x="5587989" y="4557038"/>
                <a:ext cx="12182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67" name="テキスト ボックス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89" y="4557038"/>
                <a:ext cx="1218219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直線矢印コネクタ 68"/>
          <p:cNvCxnSpPr>
            <a:stCxn id="66" idx="2"/>
            <a:endCxn id="45" idx="0"/>
          </p:cNvCxnSpPr>
          <p:nvPr/>
        </p:nvCxnSpPr>
        <p:spPr>
          <a:xfrm>
            <a:off x="5575167" y="5369105"/>
            <a:ext cx="1850" cy="87420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テキスト ボックス 75"/>
          <p:cNvSpPr txBox="1"/>
          <p:nvPr/>
        </p:nvSpPr>
        <p:spPr>
          <a:xfrm>
            <a:off x="4418440" y="3601083"/>
            <a:ext cx="231345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osition PID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1" name="直線矢印コネクタ 80"/>
          <p:cNvCxnSpPr>
            <a:stCxn id="76" idx="2"/>
            <a:endCxn id="31" idx="0"/>
          </p:cNvCxnSpPr>
          <p:nvPr/>
        </p:nvCxnSpPr>
        <p:spPr>
          <a:xfrm>
            <a:off x="5575167" y="3970415"/>
            <a:ext cx="0" cy="2067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角丸四角形 103"/>
          <p:cNvSpPr/>
          <p:nvPr/>
        </p:nvSpPr>
        <p:spPr>
          <a:xfrm>
            <a:off x="3418703" y="2356243"/>
            <a:ext cx="4313063" cy="3129735"/>
          </a:xfrm>
          <a:prstGeom prst="roundRect">
            <a:avLst/>
          </a:prstGeom>
          <a:noFill/>
          <a:ln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角丸四角形 108"/>
          <p:cNvSpPr/>
          <p:nvPr/>
        </p:nvSpPr>
        <p:spPr>
          <a:xfrm>
            <a:off x="4497859" y="6144197"/>
            <a:ext cx="2158314" cy="555804"/>
          </a:xfrm>
          <a:prstGeom prst="round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6" name="テキスト ボックス 115"/>
          <p:cNvSpPr txBox="1"/>
          <p:nvPr/>
        </p:nvSpPr>
        <p:spPr>
          <a:xfrm>
            <a:off x="3114147" y="1944286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Raspberry Pi</a:t>
            </a:r>
            <a:endParaRPr kumimoji="1" lang="ja-JP" altLang="en-US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テキスト ボックス 116"/>
          <p:cNvSpPr txBox="1"/>
          <p:nvPr/>
        </p:nvSpPr>
        <p:spPr>
          <a:xfrm>
            <a:off x="4029467" y="5764364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 smtClean="0">
                <a:solidFill>
                  <a:schemeClr val="accent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Pixracer</a:t>
            </a:r>
            <a:endParaRPr kumimoji="1" lang="ja-JP" altLang="en-US" dirty="0">
              <a:solidFill>
                <a:schemeClr val="accent2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4591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5474564" y="1461561"/>
            <a:ext cx="1588897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 Modules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/>
              <p:cNvSpPr txBox="1"/>
              <p:nvPr/>
            </p:nvSpPr>
            <p:spPr>
              <a:xfrm>
                <a:off x="3508117" y="2524101"/>
                <a:ext cx="4061254" cy="68634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osition, velocity and 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attitude estimation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altLang="ja-JP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𝜓</m:t>
                          </m:r>
                        </m:e>
                      </m:acc>
                    </m:oMath>
                  </m:oMathPara>
                </a14:m>
                <a:endParaRPr kumimoji="1" lang="en-US" altLang="ja-JP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テキスト ボックス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8117" y="2524101"/>
                <a:ext cx="4061254" cy="686342"/>
              </a:xfrm>
              <a:prstGeom prst="rect">
                <a:avLst/>
              </a:prstGeom>
              <a:blipFill rotWithShape="0">
                <a:blip r:embed="rId2"/>
                <a:stretch>
                  <a:fillRect t="-3478" r="-897" b="-347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/>
          <p:cNvCxnSpPr>
            <a:stCxn id="2" idx="2"/>
          </p:cNvCxnSpPr>
          <p:nvPr/>
        </p:nvCxnSpPr>
        <p:spPr>
          <a:xfrm flipH="1">
            <a:off x="6269012" y="1821561"/>
            <a:ext cx="1" cy="6781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/>
              <p:cNvSpPr txBox="1"/>
              <p:nvPr/>
            </p:nvSpPr>
            <p:spPr>
              <a:xfrm>
                <a:off x="6369279" y="1808010"/>
                <a:ext cx="358848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Distances between Anchors and Tag: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テキスト ボックス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9279" y="1808010"/>
                <a:ext cx="3588483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850" t="-5660" r="-85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テキスト ボックス 6"/>
          <p:cNvSpPr txBox="1"/>
          <p:nvPr/>
        </p:nvSpPr>
        <p:spPr>
          <a:xfrm>
            <a:off x="3724530" y="1461561"/>
            <a:ext cx="1674882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Sensor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3447563" y="1914246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ltitude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1" lang="en-US" altLang="ja-JP" i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kumimoji="1" lang="ja-JP" altLang="en-US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テキスト ボックス 25"/>
          <p:cNvSpPr txBox="1"/>
          <p:nvPr/>
        </p:nvSpPr>
        <p:spPr>
          <a:xfrm>
            <a:off x="9413913" y="2537223"/>
            <a:ext cx="1014124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NAVIO2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" name="直線矢印コネクタ 27"/>
          <p:cNvCxnSpPr>
            <a:stCxn id="26" idx="1"/>
          </p:cNvCxnSpPr>
          <p:nvPr/>
        </p:nvCxnSpPr>
        <p:spPr>
          <a:xfrm flipH="1">
            <a:off x="7569371" y="2717223"/>
            <a:ext cx="184454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テキスト ボックス 28"/>
              <p:cNvSpPr txBox="1"/>
              <p:nvPr/>
            </p:nvSpPr>
            <p:spPr>
              <a:xfrm>
                <a:off x="7669525" y="2865349"/>
                <a:ext cx="2790572" cy="6901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cceleration: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ja-JP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altLang="ja-JP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algn="ctr"/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ngular velocity: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ja-JP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ja-JP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ja-JP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9" name="テキスト ボックス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9525" y="2865349"/>
                <a:ext cx="2790572" cy="690189"/>
              </a:xfrm>
              <a:prstGeom prst="rect">
                <a:avLst/>
              </a:prstGeom>
              <a:blipFill rotWithShape="0">
                <a:blip r:embed="rId4"/>
                <a:stretch>
                  <a:fillRect l="-873" t="-4425" b="-973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テキスト ボックス 30"/>
          <p:cNvSpPr txBox="1"/>
          <p:nvPr/>
        </p:nvSpPr>
        <p:spPr>
          <a:xfrm>
            <a:off x="4431264" y="4300428"/>
            <a:ext cx="25442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Desired angle </a:t>
            </a:r>
            <a:r>
              <a:rPr kumimoji="1" lang="en-US" altLang="ja-JP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calcuration</a:t>
            </a:r>
            <a:endParaRPr kumimoji="1" lang="en-US" altLang="ja-JP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6" name="直線矢印コネクタ 35"/>
          <p:cNvCxnSpPr/>
          <p:nvPr/>
        </p:nvCxnSpPr>
        <p:spPr>
          <a:xfrm>
            <a:off x="5572887" y="3219695"/>
            <a:ext cx="0" cy="360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/>
          <p:cNvCxnSpPr/>
          <p:nvPr/>
        </p:nvCxnSpPr>
        <p:spPr>
          <a:xfrm flipH="1">
            <a:off x="6769904" y="3785749"/>
            <a:ext cx="116819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テキスト ボックス 40"/>
              <p:cNvSpPr txBox="1"/>
              <p:nvPr/>
            </p:nvSpPr>
            <p:spPr>
              <a:xfrm>
                <a:off x="7951345" y="3601083"/>
                <a:ext cx="22935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et position: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" name="テキスト ボックス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345" y="3601083"/>
                <a:ext cx="2293513" cy="369332"/>
              </a:xfrm>
              <a:prstGeom prst="rect">
                <a:avLst/>
              </a:prstGeom>
              <a:blipFill rotWithShape="0">
                <a:blip r:embed="rId5"/>
                <a:stretch>
                  <a:fillRect l="-2122" t="-10000" b="-2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テキスト ボックス 44"/>
          <p:cNvSpPr txBox="1"/>
          <p:nvPr/>
        </p:nvSpPr>
        <p:spPr>
          <a:xfrm>
            <a:off x="4596620" y="6243311"/>
            <a:ext cx="1960793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7" name="直線矢印コネクタ 46"/>
          <p:cNvCxnSpPr/>
          <p:nvPr/>
        </p:nvCxnSpPr>
        <p:spPr>
          <a:xfrm>
            <a:off x="5571962" y="4660428"/>
            <a:ext cx="0" cy="360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テキスト ボックス 47"/>
              <p:cNvSpPr txBox="1"/>
              <p:nvPr/>
            </p:nvSpPr>
            <p:spPr>
              <a:xfrm>
                <a:off x="5587989" y="5476863"/>
                <a:ext cx="38651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ver ride servo input(1000~2000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ja-JP" altLang="en-US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μ</m:t>
                    </m:r>
                    <m:r>
                      <m:rPr>
                        <m:sty m:val="p"/>
                      </m:rPr>
                      <a:rPr kumimoji="1" lang="en-US" altLang="ja-JP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sec</m:t>
                    </m:r>
                  </m:oMath>
                </a14:m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</a:p>
              <a:p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Ch1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Ch2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Ch3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Ch4</a:t>
                </a:r>
                <a:endParaRPr kumimoji="1" lang="ja-JP" altLang="en-US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テキスト ボックス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89" y="5476863"/>
                <a:ext cx="3865161" cy="646331"/>
              </a:xfrm>
              <a:prstGeom prst="rect">
                <a:avLst/>
              </a:prstGeom>
              <a:blipFill rotWithShape="0">
                <a:blip r:embed="rId6"/>
                <a:stretch>
                  <a:fillRect l="-1420" t="-4717" r="-158" b="-141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テキスト ボックス 65"/>
          <p:cNvSpPr txBox="1"/>
          <p:nvPr/>
        </p:nvSpPr>
        <p:spPr>
          <a:xfrm>
            <a:off x="4174783" y="4999773"/>
            <a:ext cx="29418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hange angles to servo signal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テキスト ボックス 66"/>
              <p:cNvSpPr txBox="1"/>
              <p:nvPr/>
            </p:nvSpPr>
            <p:spPr>
              <a:xfrm>
                <a:off x="5585212" y="4645435"/>
                <a:ext cx="12182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67" name="テキスト ボックス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5212" y="4645435"/>
                <a:ext cx="1218219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直線矢印コネクタ 68"/>
          <p:cNvCxnSpPr/>
          <p:nvPr/>
        </p:nvCxnSpPr>
        <p:spPr>
          <a:xfrm>
            <a:off x="5571962" y="5359773"/>
            <a:ext cx="1850" cy="900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テキスト ボックス 75"/>
          <p:cNvSpPr txBox="1"/>
          <p:nvPr/>
        </p:nvSpPr>
        <p:spPr>
          <a:xfrm>
            <a:off x="4418440" y="3601083"/>
            <a:ext cx="23262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osition PID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1" name="直線矢印コネクタ 80"/>
          <p:cNvCxnSpPr/>
          <p:nvPr/>
        </p:nvCxnSpPr>
        <p:spPr>
          <a:xfrm>
            <a:off x="5572887" y="3961083"/>
            <a:ext cx="0" cy="3393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角丸四角形 103"/>
          <p:cNvSpPr/>
          <p:nvPr/>
        </p:nvSpPr>
        <p:spPr>
          <a:xfrm>
            <a:off x="3319849" y="2304581"/>
            <a:ext cx="4473146" cy="3181397"/>
          </a:xfrm>
          <a:prstGeom prst="roundRect">
            <a:avLst/>
          </a:prstGeom>
          <a:noFill/>
          <a:ln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角丸四角形 108"/>
          <p:cNvSpPr/>
          <p:nvPr/>
        </p:nvSpPr>
        <p:spPr>
          <a:xfrm>
            <a:off x="4497859" y="6144197"/>
            <a:ext cx="2158314" cy="555804"/>
          </a:xfrm>
          <a:prstGeom prst="round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16" name="テキスト ボックス 115"/>
          <p:cNvSpPr txBox="1"/>
          <p:nvPr/>
        </p:nvSpPr>
        <p:spPr>
          <a:xfrm>
            <a:off x="7701585" y="4985044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Raspberry Pi</a:t>
            </a:r>
            <a:endParaRPr kumimoji="1" lang="ja-JP" altLang="en-US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テキスト ボックス 116"/>
          <p:cNvSpPr txBox="1"/>
          <p:nvPr/>
        </p:nvSpPr>
        <p:spPr>
          <a:xfrm>
            <a:off x="4307278" y="5725308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 smtClean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Pixracer</a:t>
            </a:r>
            <a:endParaRPr kumimoji="1" lang="ja-JP" altLang="en-US"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線矢印コネクタ 13"/>
          <p:cNvCxnSpPr>
            <a:stCxn id="7" idx="2"/>
          </p:cNvCxnSpPr>
          <p:nvPr/>
        </p:nvCxnSpPr>
        <p:spPr>
          <a:xfrm>
            <a:off x="4561971" y="1821561"/>
            <a:ext cx="0" cy="6781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7391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7810" y="0"/>
            <a:ext cx="9204898" cy="6858000"/>
          </a:xfrm>
          <a:prstGeom prst="rect">
            <a:avLst/>
          </a:prstGeom>
        </p:spPr>
      </p:pic>
      <p:sp>
        <p:nvSpPr>
          <p:cNvPr id="3" name="テキスト ボックス 2"/>
          <p:cNvSpPr txBox="1"/>
          <p:nvPr/>
        </p:nvSpPr>
        <p:spPr>
          <a:xfrm>
            <a:off x="1710677" y="4981407"/>
            <a:ext cx="3581894" cy="181588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650g, 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2633KV</a:t>
            </a:r>
          </a:p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Propeller(Inch): </a:t>
            </a:r>
          </a:p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5(diameter) × 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3(pitch)</a:t>
            </a:r>
            <a:endParaRPr kumimoji="1" lang="en-US" altLang="ja-JP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LiPo (3Cell 1800mAh)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7317218" y="131323"/>
            <a:ext cx="21868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 module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線矢印コネクタ 5"/>
          <p:cNvCxnSpPr>
            <a:stCxn id="4" idx="1"/>
          </p:cNvCxnSpPr>
          <p:nvPr/>
        </p:nvCxnSpPr>
        <p:spPr>
          <a:xfrm flipH="1">
            <a:off x="6293796" y="392933"/>
            <a:ext cx="1023422" cy="5940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テキスト ボックス 8"/>
          <p:cNvSpPr txBox="1"/>
          <p:nvPr/>
        </p:nvSpPr>
        <p:spPr>
          <a:xfrm>
            <a:off x="1638585" y="625672"/>
            <a:ext cx="2444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sensor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直線矢印コネクタ 10"/>
          <p:cNvCxnSpPr>
            <a:stCxn id="9" idx="3"/>
          </p:cNvCxnSpPr>
          <p:nvPr/>
        </p:nvCxnSpPr>
        <p:spPr>
          <a:xfrm>
            <a:off x="4083485" y="887282"/>
            <a:ext cx="624702" cy="8928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テキスト ボックス 11"/>
          <p:cNvSpPr txBox="1"/>
          <p:nvPr/>
        </p:nvSpPr>
        <p:spPr>
          <a:xfrm>
            <a:off x="8473706" y="756124"/>
            <a:ext cx="883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IMU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線矢印コネクタ 13"/>
          <p:cNvCxnSpPr>
            <a:stCxn id="12" idx="1"/>
          </p:cNvCxnSpPr>
          <p:nvPr/>
        </p:nvCxnSpPr>
        <p:spPr>
          <a:xfrm flipH="1">
            <a:off x="7159558" y="1017734"/>
            <a:ext cx="1314148" cy="7624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線矢印コネクタ 19"/>
          <p:cNvCxnSpPr/>
          <p:nvPr/>
        </p:nvCxnSpPr>
        <p:spPr>
          <a:xfrm>
            <a:off x="3005847" y="3554543"/>
            <a:ext cx="3385225" cy="185403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/>
          <p:cNvCxnSpPr/>
          <p:nvPr/>
        </p:nvCxnSpPr>
        <p:spPr>
          <a:xfrm flipH="1">
            <a:off x="2140085" y="3206692"/>
            <a:ext cx="1126800" cy="119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/>
          <p:cNvCxnSpPr/>
          <p:nvPr/>
        </p:nvCxnSpPr>
        <p:spPr>
          <a:xfrm flipH="1">
            <a:off x="5535437" y="5116749"/>
            <a:ext cx="1069644" cy="130136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/>
          <p:cNvSpPr txBox="1"/>
          <p:nvPr/>
        </p:nvSpPr>
        <p:spPr>
          <a:xfrm>
            <a:off x="3638145" y="4396902"/>
            <a:ext cx="12811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165mm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080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4638" y="1120346"/>
            <a:ext cx="4836457" cy="3628767"/>
          </a:xfrm>
          <a:prstGeom prst="rect">
            <a:avLst/>
          </a:prstGeom>
        </p:spPr>
      </p:pic>
      <p:sp>
        <p:nvSpPr>
          <p:cNvPr id="6" name="円/楕円 5"/>
          <p:cNvSpPr/>
          <p:nvPr/>
        </p:nvSpPr>
        <p:spPr>
          <a:xfrm>
            <a:off x="5997147" y="2012093"/>
            <a:ext cx="329513" cy="329513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円/楕円 6"/>
          <p:cNvSpPr/>
          <p:nvPr/>
        </p:nvSpPr>
        <p:spPr>
          <a:xfrm>
            <a:off x="6161904" y="3562866"/>
            <a:ext cx="329513" cy="329513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円/楕円 7"/>
          <p:cNvSpPr/>
          <p:nvPr/>
        </p:nvSpPr>
        <p:spPr>
          <a:xfrm>
            <a:off x="7397580" y="2932666"/>
            <a:ext cx="329513" cy="329513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円/楕円 8"/>
          <p:cNvSpPr/>
          <p:nvPr/>
        </p:nvSpPr>
        <p:spPr>
          <a:xfrm>
            <a:off x="4911794" y="3035642"/>
            <a:ext cx="329513" cy="329513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7" name="グループ化 16"/>
          <p:cNvGrpSpPr/>
          <p:nvPr/>
        </p:nvGrpSpPr>
        <p:grpSpPr>
          <a:xfrm>
            <a:off x="6364539" y="1120346"/>
            <a:ext cx="2066082" cy="734182"/>
            <a:chOff x="6491417" y="1225438"/>
            <a:chExt cx="2066082" cy="734182"/>
          </a:xfrm>
        </p:grpSpPr>
        <p:grpSp>
          <p:nvGrpSpPr>
            <p:cNvPr id="14" name="グループ化 13"/>
            <p:cNvGrpSpPr/>
            <p:nvPr/>
          </p:nvGrpSpPr>
          <p:grpSpPr>
            <a:xfrm>
              <a:off x="6491417" y="1225438"/>
              <a:ext cx="1910591" cy="400110"/>
              <a:chOff x="1581037" y="1120346"/>
              <a:chExt cx="2399410" cy="515621"/>
            </a:xfrm>
          </p:grpSpPr>
          <p:sp>
            <p:nvSpPr>
              <p:cNvPr id="2" name="テキスト ボックス 1"/>
              <p:cNvSpPr txBox="1"/>
              <p:nvPr/>
            </p:nvSpPr>
            <p:spPr>
              <a:xfrm>
                <a:off x="1910550" y="1120346"/>
                <a:ext cx="2069897" cy="5156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Fixed station</a:t>
                </a:r>
                <a:endParaRPr kumimoji="1" lang="ja-JP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" name="円/楕円 9"/>
              <p:cNvSpPr/>
              <p:nvPr/>
            </p:nvSpPr>
            <p:spPr>
              <a:xfrm>
                <a:off x="1581037" y="1229958"/>
                <a:ext cx="329513" cy="329513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1" name="テキスト ボックス 10"/>
            <p:cNvSpPr txBox="1"/>
            <p:nvPr/>
          </p:nvSpPr>
          <p:spPr>
            <a:xfrm>
              <a:off x="6753800" y="1559510"/>
              <a:ext cx="180369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Mobile station</a:t>
              </a:r>
              <a:endParaRPr kumimoji="1" lang="ja-JP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円/楕円 11"/>
            <p:cNvSpPr/>
            <p:nvPr/>
          </p:nvSpPr>
          <p:spPr>
            <a:xfrm>
              <a:off x="6491417" y="1644566"/>
              <a:ext cx="262383" cy="255694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" name="グループ化 3"/>
          <p:cNvGrpSpPr/>
          <p:nvPr/>
        </p:nvGrpSpPr>
        <p:grpSpPr>
          <a:xfrm>
            <a:off x="2342363" y="4932174"/>
            <a:ext cx="1661997" cy="419331"/>
            <a:chOff x="4606992" y="5527588"/>
            <a:chExt cx="1661997" cy="419331"/>
          </a:xfrm>
        </p:grpSpPr>
        <p:pic>
          <p:nvPicPr>
            <p:cNvPr id="5" name="図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06992" y="5643424"/>
              <a:ext cx="1661997" cy="303495"/>
            </a:xfrm>
            <a:prstGeom prst="rect">
              <a:avLst/>
            </a:prstGeom>
          </p:spPr>
        </p:pic>
        <p:sp>
          <p:nvSpPr>
            <p:cNvPr id="13" name="円/楕円 12"/>
            <p:cNvSpPr/>
            <p:nvPr/>
          </p:nvSpPr>
          <p:spPr>
            <a:xfrm>
              <a:off x="5303737" y="5527588"/>
              <a:ext cx="268505" cy="267583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19" name="直線コネクタ 18"/>
          <p:cNvCxnSpPr/>
          <p:nvPr/>
        </p:nvCxnSpPr>
        <p:spPr>
          <a:xfrm>
            <a:off x="4094205" y="5140411"/>
            <a:ext cx="518984" cy="18123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テキスト ボックス 19"/>
          <p:cNvSpPr txBox="1"/>
          <p:nvPr/>
        </p:nvSpPr>
        <p:spPr>
          <a:xfrm>
            <a:off x="4590518" y="5166839"/>
            <a:ext cx="1239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Quad-rotor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085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/>
          <p:cNvGrpSpPr/>
          <p:nvPr/>
        </p:nvGrpSpPr>
        <p:grpSpPr>
          <a:xfrm>
            <a:off x="889687" y="2164491"/>
            <a:ext cx="9803026" cy="1781432"/>
            <a:chOff x="889687" y="2164491"/>
            <a:chExt cx="9803026" cy="1781432"/>
          </a:xfrm>
        </p:grpSpPr>
        <p:sp>
          <p:nvSpPr>
            <p:cNvPr id="2" name="正方形/長方形 1"/>
            <p:cNvSpPr/>
            <p:nvPr/>
          </p:nvSpPr>
          <p:spPr>
            <a:xfrm>
              <a:off x="4753232" y="2998572"/>
              <a:ext cx="2092411" cy="947351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" name="直線コネクタ 3"/>
            <p:cNvCxnSpPr/>
            <p:nvPr/>
          </p:nvCxnSpPr>
          <p:spPr>
            <a:xfrm flipH="1">
              <a:off x="3006811" y="3204519"/>
              <a:ext cx="172994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直線コネクタ 4"/>
            <p:cNvCxnSpPr/>
            <p:nvPr/>
          </p:nvCxnSpPr>
          <p:spPr>
            <a:xfrm flipH="1">
              <a:off x="6845643" y="3204519"/>
              <a:ext cx="172994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" name="正方形/長方形 5"/>
            <p:cNvSpPr/>
            <p:nvPr/>
          </p:nvSpPr>
          <p:spPr>
            <a:xfrm>
              <a:off x="2388973" y="2767914"/>
              <a:ext cx="617838" cy="823783"/>
            </a:xfrm>
            <a:prstGeom prst="rect">
              <a:avLst/>
            </a:prstGeom>
            <a:solidFill>
              <a:schemeClr val="bg1"/>
            </a:solidFill>
            <a:ln w="57150"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/>
            <p:cNvSpPr/>
            <p:nvPr/>
          </p:nvSpPr>
          <p:spPr>
            <a:xfrm>
              <a:off x="8575589" y="2767914"/>
              <a:ext cx="617838" cy="82378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円/楕円 7"/>
            <p:cNvSpPr/>
            <p:nvPr/>
          </p:nvSpPr>
          <p:spPr>
            <a:xfrm>
              <a:off x="889687" y="2325130"/>
              <a:ext cx="3616410" cy="387178"/>
            </a:xfrm>
            <a:prstGeom prst="ellips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円/楕円 8"/>
            <p:cNvSpPr/>
            <p:nvPr/>
          </p:nvSpPr>
          <p:spPr>
            <a:xfrm>
              <a:off x="7076303" y="2325130"/>
              <a:ext cx="3616410" cy="387178"/>
            </a:xfrm>
            <a:prstGeom prst="ellips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2590800" y="2164491"/>
              <a:ext cx="214183" cy="321275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/>
            <p:cNvSpPr/>
            <p:nvPr/>
          </p:nvSpPr>
          <p:spPr>
            <a:xfrm>
              <a:off x="8777416" y="2164492"/>
              <a:ext cx="214183" cy="321275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02796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線矢印コネクタ 2"/>
          <p:cNvCxnSpPr/>
          <p:nvPr/>
        </p:nvCxnSpPr>
        <p:spPr>
          <a:xfrm flipV="1">
            <a:off x="3179805" y="2034746"/>
            <a:ext cx="0" cy="323747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線矢印コネクタ 4"/>
          <p:cNvCxnSpPr/>
          <p:nvPr/>
        </p:nvCxnSpPr>
        <p:spPr>
          <a:xfrm>
            <a:off x="3179805" y="5272216"/>
            <a:ext cx="486032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3648846" y="2899718"/>
            <a:ext cx="329513" cy="2372498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/>
          <p:cNvSpPr/>
          <p:nvPr/>
        </p:nvSpPr>
        <p:spPr>
          <a:xfrm>
            <a:off x="4611130" y="2899718"/>
            <a:ext cx="329513" cy="2372498"/>
          </a:xfrm>
          <a:prstGeom prst="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/>
          <p:cNvSpPr/>
          <p:nvPr/>
        </p:nvSpPr>
        <p:spPr>
          <a:xfrm>
            <a:off x="5338118" y="4802659"/>
            <a:ext cx="1919416" cy="46955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3567333" y="5272216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4529617" y="5272216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2.4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5894863" y="5272216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5.0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5131494" y="527221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3.1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6996686" y="5272216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10.6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500034" y="2513910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GPS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4228300" y="2513910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Bluetooth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5769636" y="2513910"/>
            <a:ext cx="726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Wi-Fi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6504450" y="4466279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正方形/長方形 8"/>
          <p:cNvSpPr/>
          <p:nvPr/>
        </p:nvSpPr>
        <p:spPr>
          <a:xfrm>
            <a:off x="5968313" y="2899718"/>
            <a:ext cx="329513" cy="2372498"/>
          </a:xfrm>
          <a:prstGeom prst="rect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/>
          <p:cNvSpPr txBox="1"/>
          <p:nvPr/>
        </p:nvSpPr>
        <p:spPr>
          <a:xfrm>
            <a:off x="4582988" y="5625072"/>
            <a:ext cx="24562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 [GHz]</a:t>
            </a:r>
            <a:endParaRPr kumimoji="1" lang="ja-JP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テキスト ボックス 24"/>
          <p:cNvSpPr txBox="1"/>
          <p:nvPr/>
        </p:nvSpPr>
        <p:spPr>
          <a:xfrm rot="16200000">
            <a:off x="1537554" y="3587619"/>
            <a:ext cx="25026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spectral density</a:t>
            </a:r>
            <a:endParaRPr kumimoji="1" lang="ja-JP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8658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65"/>
          <a:stretch/>
        </p:blipFill>
        <p:spPr>
          <a:xfrm>
            <a:off x="1911996" y="4840494"/>
            <a:ext cx="1359469" cy="1090199"/>
          </a:xfrm>
          <a:prstGeom prst="rect">
            <a:avLst/>
          </a:prstGeom>
        </p:spPr>
      </p:pic>
      <p:pic>
        <p:nvPicPr>
          <p:cNvPr id="11" name="図 10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4" r="6401" b="3805"/>
          <a:stretch/>
        </p:blipFill>
        <p:spPr>
          <a:xfrm>
            <a:off x="5390875" y="4840494"/>
            <a:ext cx="1725828" cy="1391230"/>
          </a:xfrm>
          <a:prstGeom prst="rect">
            <a:avLst/>
          </a:prstGeom>
        </p:spPr>
      </p:pic>
      <p:sp>
        <p:nvSpPr>
          <p:cNvPr id="12" name="円/楕円 11"/>
          <p:cNvSpPr/>
          <p:nvPr/>
        </p:nvSpPr>
        <p:spPr>
          <a:xfrm>
            <a:off x="2790609" y="1051813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円/楕円 12"/>
          <p:cNvSpPr/>
          <p:nvPr/>
        </p:nvSpPr>
        <p:spPr>
          <a:xfrm>
            <a:off x="6476647" y="3421358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円/楕円 13"/>
          <p:cNvSpPr/>
          <p:nvPr/>
        </p:nvSpPr>
        <p:spPr>
          <a:xfrm>
            <a:off x="2943241" y="3646370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円/楕円 14"/>
          <p:cNvSpPr/>
          <p:nvPr/>
        </p:nvSpPr>
        <p:spPr>
          <a:xfrm>
            <a:off x="6476647" y="1138771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円/楕円 15"/>
          <p:cNvSpPr/>
          <p:nvPr/>
        </p:nvSpPr>
        <p:spPr>
          <a:xfrm>
            <a:off x="4705864" y="2059459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/>
          <p:cNvSpPr txBox="1"/>
          <p:nvPr/>
        </p:nvSpPr>
        <p:spPr>
          <a:xfrm>
            <a:off x="1589792" y="3360086"/>
            <a:ext cx="14750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Anchor1</a:t>
            </a:r>
          </a:p>
          <a:p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1389629" y="788765"/>
            <a:ext cx="14750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Anchor2</a:t>
            </a: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sz="2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sz="2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6887820" y="842484"/>
            <a:ext cx="14750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Anchor3</a:t>
            </a: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6830874" y="3159259"/>
            <a:ext cx="14750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Anchor4</a:t>
            </a: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テキスト ボックス 23"/>
              <p:cNvSpPr txBox="1"/>
              <p:nvPr/>
            </p:nvSpPr>
            <p:spPr>
              <a:xfrm>
                <a:off x="4327495" y="1092400"/>
                <a:ext cx="127849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Tag</a:t>
                </a:r>
                <a:endParaRPr lang="en-US" altLang="ja-JP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altLang="ja-JP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sz="2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ja-JP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sz="2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ja-JP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sz="2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altLang="ja-JP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</a:t>
                </a:r>
                <a:endParaRPr lang="ja-JP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" name="テキスト ボックス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7495" y="1092400"/>
                <a:ext cx="1278492" cy="830997"/>
              </a:xfrm>
              <a:prstGeom prst="rect">
                <a:avLst/>
              </a:prstGeom>
              <a:blipFill rotWithShape="0">
                <a:blip r:embed="rId4"/>
                <a:stretch>
                  <a:fillRect l="-7619" t="-5839" r="-12381" b="-153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線矢印コネクタ 25"/>
          <p:cNvCxnSpPr/>
          <p:nvPr/>
        </p:nvCxnSpPr>
        <p:spPr>
          <a:xfrm>
            <a:off x="3267103" y="1257982"/>
            <a:ext cx="1438761" cy="80147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/>
          <p:cNvCxnSpPr/>
          <p:nvPr/>
        </p:nvCxnSpPr>
        <p:spPr>
          <a:xfrm flipV="1">
            <a:off x="5060091" y="1388930"/>
            <a:ext cx="1345914" cy="652729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/>
          <p:cNvCxnSpPr/>
          <p:nvPr/>
        </p:nvCxnSpPr>
        <p:spPr>
          <a:xfrm>
            <a:off x="5060091" y="2413686"/>
            <a:ext cx="1345914" cy="1017011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/>
          <p:cNvCxnSpPr/>
          <p:nvPr/>
        </p:nvCxnSpPr>
        <p:spPr>
          <a:xfrm flipH="1">
            <a:off x="3297468" y="2402313"/>
            <a:ext cx="1349155" cy="1218719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テキスト ボックス 37"/>
              <p:cNvSpPr txBox="1"/>
              <p:nvPr/>
            </p:nvSpPr>
            <p:spPr>
              <a:xfrm>
                <a:off x="5733048" y="2629774"/>
                <a:ext cx="38946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38" name="テキスト ボックス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3048" y="2629774"/>
                <a:ext cx="389466" cy="369332"/>
              </a:xfrm>
              <a:prstGeom prst="rect">
                <a:avLst/>
              </a:prstGeom>
              <a:blipFill rotWithShape="0">
                <a:blip r:embed="rId5"/>
                <a:stretch>
                  <a:fillRect l="-18750" r="-6250"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テキスト ボックス 38"/>
              <p:cNvSpPr txBox="1"/>
              <p:nvPr/>
            </p:nvSpPr>
            <p:spPr>
              <a:xfrm>
                <a:off x="5624353" y="1211816"/>
                <a:ext cx="38946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39" name="テキスト ボックス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4353" y="1211816"/>
                <a:ext cx="389466" cy="369332"/>
              </a:xfrm>
              <a:prstGeom prst="rect">
                <a:avLst/>
              </a:prstGeom>
              <a:blipFill rotWithShape="0">
                <a:blip r:embed="rId6"/>
                <a:stretch>
                  <a:fillRect l="-18750" r="-6250" b="-15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テキスト ボックス 39"/>
              <p:cNvSpPr txBox="1"/>
              <p:nvPr/>
            </p:nvSpPr>
            <p:spPr>
              <a:xfrm>
                <a:off x="3729526" y="1196879"/>
                <a:ext cx="38946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40" name="テキスト ボックス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526" y="1196879"/>
                <a:ext cx="389466" cy="369332"/>
              </a:xfrm>
              <a:prstGeom prst="rect">
                <a:avLst/>
              </a:prstGeom>
              <a:blipFill rotWithShape="0">
                <a:blip r:embed="rId7"/>
                <a:stretch>
                  <a:fillRect l="-18750" r="-6250"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テキスト ボックス 40"/>
              <p:cNvSpPr txBox="1"/>
              <p:nvPr/>
            </p:nvSpPr>
            <p:spPr>
              <a:xfrm>
                <a:off x="3643847" y="2660166"/>
                <a:ext cx="3823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41" name="テキスト ボックス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3847" y="2660166"/>
                <a:ext cx="382349" cy="369332"/>
              </a:xfrm>
              <a:prstGeom prst="rect">
                <a:avLst/>
              </a:prstGeom>
              <a:blipFill rotWithShape="0">
                <a:blip r:embed="rId8"/>
                <a:stretch>
                  <a:fillRect l="-19355" r="-8065"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6918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円/楕円 11"/>
          <p:cNvSpPr/>
          <p:nvPr/>
        </p:nvSpPr>
        <p:spPr>
          <a:xfrm>
            <a:off x="2790609" y="1051813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円/楕円 12"/>
          <p:cNvSpPr/>
          <p:nvPr/>
        </p:nvSpPr>
        <p:spPr>
          <a:xfrm>
            <a:off x="6476647" y="3421358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円/楕円 13"/>
          <p:cNvSpPr/>
          <p:nvPr/>
        </p:nvSpPr>
        <p:spPr>
          <a:xfrm>
            <a:off x="3144836" y="3050201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円/楕円 14"/>
          <p:cNvSpPr/>
          <p:nvPr/>
        </p:nvSpPr>
        <p:spPr>
          <a:xfrm>
            <a:off x="6476647" y="1138771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円/楕円 15"/>
          <p:cNvSpPr/>
          <p:nvPr/>
        </p:nvSpPr>
        <p:spPr>
          <a:xfrm>
            <a:off x="4705864" y="2059459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/>
          <p:cNvSpPr txBox="1"/>
          <p:nvPr/>
        </p:nvSpPr>
        <p:spPr>
          <a:xfrm>
            <a:off x="1722378" y="2814401"/>
            <a:ext cx="14991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Fixed station1</a:t>
            </a:r>
            <a:endParaRPr lang="en-US" altLang="ja-J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1383258" y="728647"/>
            <a:ext cx="14991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Fixed station2</a:t>
            </a:r>
            <a:endParaRPr lang="en-US" altLang="ja-J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6830874" y="846667"/>
            <a:ext cx="14991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Fixed station3</a:t>
            </a:r>
            <a:endParaRPr lang="en-US" altLang="ja-J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6801748" y="3144754"/>
            <a:ext cx="14991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Fixed station4</a:t>
            </a:r>
            <a:endParaRPr lang="en-US" altLang="ja-J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テキスト ボックス 23"/>
              <p:cNvSpPr txBox="1"/>
              <p:nvPr/>
            </p:nvSpPr>
            <p:spPr>
              <a:xfrm>
                <a:off x="4155027" y="1275976"/>
                <a:ext cx="152477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Mobile station</a:t>
                </a:r>
                <a:endParaRPr lang="en-US" altLang="ja-JP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</a:t>
                </a:r>
                <a:endParaRPr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" name="テキスト ボックス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5027" y="1275976"/>
                <a:ext cx="1524776" cy="646331"/>
              </a:xfrm>
              <a:prstGeom prst="rect">
                <a:avLst/>
              </a:prstGeom>
              <a:blipFill rotWithShape="0">
                <a:blip r:embed="rId2"/>
                <a:stretch>
                  <a:fillRect l="-3600" t="-4717" r="-3200" b="-141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線矢印コネクタ 25"/>
          <p:cNvCxnSpPr/>
          <p:nvPr/>
        </p:nvCxnSpPr>
        <p:spPr>
          <a:xfrm>
            <a:off x="3267103" y="1257982"/>
            <a:ext cx="1438761" cy="80147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/>
          <p:cNvCxnSpPr/>
          <p:nvPr/>
        </p:nvCxnSpPr>
        <p:spPr>
          <a:xfrm flipV="1">
            <a:off x="5060091" y="1388930"/>
            <a:ext cx="1345914" cy="652729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/>
          <p:cNvCxnSpPr/>
          <p:nvPr/>
        </p:nvCxnSpPr>
        <p:spPr>
          <a:xfrm>
            <a:off x="5060091" y="2413686"/>
            <a:ext cx="1345914" cy="1017011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/>
          <p:cNvCxnSpPr/>
          <p:nvPr/>
        </p:nvCxnSpPr>
        <p:spPr>
          <a:xfrm flipH="1">
            <a:off x="3569705" y="2402313"/>
            <a:ext cx="1076919" cy="693380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テキスト ボックス 37"/>
              <p:cNvSpPr txBox="1"/>
              <p:nvPr/>
            </p:nvSpPr>
            <p:spPr>
              <a:xfrm>
                <a:off x="5711908" y="2675902"/>
                <a:ext cx="2932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8" name="テキスト ボックス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1908" y="2675902"/>
                <a:ext cx="293285" cy="276999"/>
              </a:xfrm>
              <a:prstGeom prst="rect">
                <a:avLst/>
              </a:prstGeom>
              <a:blipFill rotWithShape="0">
                <a:blip r:embed="rId3"/>
                <a:stretch>
                  <a:fillRect l="-20833" r="-6250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テキスト ボックス 38"/>
              <p:cNvSpPr txBox="1"/>
              <p:nvPr/>
            </p:nvSpPr>
            <p:spPr>
              <a:xfrm>
                <a:off x="5665674" y="1319780"/>
                <a:ext cx="2932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39" name="テキスト ボックス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5674" y="1319780"/>
                <a:ext cx="293285" cy="276999"/>
              </a:xfrm>
              <a:prstGeom prst="rect">
                <a:avLst/>
              </a:prstGeom>
              <a:blipFill rotWithShape="0">
                <a:blip r:embed="rId4"/>
                <a:stretch>
                  <a:fillRect l="-20408" r="-6122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テキスト ボックス 39"/>
              <p:cNvSpPr txBox="1"/>
              <p:nvPr/>
            </p:nvSpPr>
            <p:spPr>
              <a:xfrm>
                <a:off x="3839840" y="1317832"/>
                <a:ext cx="2932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40" name="テキスト ボックス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9840" y="1317832"/>
                <a:ext cx="293285" cy="276999"/>
              </a:xfrm>
              <a:prstGeom prst="rect">
                <a:avLst/>
              </a:prstGeom>
              <a:blipFill rotWithShape="0">
                <a:blip r:embed="rId5"/>
                <a:stretch>
                  <a:fillRect l="-20833" r="-6250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テキスト ボックス 40"/>
              <p:cNvSpPr txBox="1"/>
              <p:nvPr/>
            </p:nvSpPr>
            <p:spPr>
              <a:xfrm>
                <a:off x="3845162" y="2472004"/>
                <a:ext cx="2879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41" name="テキスト ボックス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5162" y="2472004"/>
                <a:ext cx="287963" cy="276999"/>
              </a:xfrm>
              <a:prstGeom prst="rect">
                <a:avLst/>
              </a:prstGeom>
              <a:blipFill rotWithShape="0">
                <a:blip r:embed="rId6"/>
                <a:stretch>
                  <a:fillRect l="-21277" r="-6383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6027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041" y="251884"/>
            <a:ext cx="8315325" cy="3127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361529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3586564" y="1863147"/>
            <a:ext cx="1566967" cy="646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angle </a:t>
            </a:r>
          </a:p>
          <a:p>
            <a:pPr algn="ctr"/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generation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39277" y="3175715"/>
            <a:ext cx="2313454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PID p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osition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6113142" y="2001646"/>
            <a:ext cx="1918282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テキスト ボックス 5"/>
          <p:cNvSpPr txBox="1"/>
          <p:nvPr/>
        </p:nvSpPr>
        <p:spPr>
          <a:xfrm>
            <a:off x="9091660" y="2001646"/>
            <a:ext cx="1239891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Quad-rotor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テキスト ボックス 6"/>
          <p:cNvSpPr txBox="1"/>
          <p:nvPr/>
        </p:nvSpPr>
        <p:spPr>
          <a:xfrm>
            <a:off x="6809159" y="2898716"/>
            <a:ext cx="2547044" cy="92333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Position and </a:t>
            </a:r>
          </a:p>
          <a:p>
            <a:pPr algn="ctr"/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angle estimation</a:t>
            </a:r>
          </a:p>
          <a:p>
            <a:pPr algn="ctr"/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(Extended </a:t>
            </a:r>
            <a:r>
              <a:rPr lang="en-US" altLang="ja-JP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ja-JP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alman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Filter)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テキスト ボックス 7"/>
          <p:cNvSpPr txBox="1"/>
          <p:nvPr/>
        </p:nvSpPr>
        <p:spPr>
          <a:xfrm>
            <a:off x="6068580" y="3901026"/>
            <a:ext cx="1126783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円/楕円 8"/>
          <p:cNvSpPr/>
          <p:nvPr/>
        </p:nvSpPr>
        <p:spPr>
          <a:xfrm>
            <a:off x="5289521" y="3133840"/>
            <a:ext cx="453081" cy="45308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/>
          <p:cNvCxnSpPr>
            <a:stCxn id="7" idx="1"/>
            <a:endCxn id="9" idx="6"/>
          </p:cNvCxnSpPr>
          <p:nvPr/>
        </p:nvCxnSpPr>
        <p:spPr>
          <a:xfrm flipH="1">
            <a:off x="5742602" y="3360381"/>
            <a:ext cx="106655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カギ線コネクタ 12"/>
          <p:cNvCxnSpPr>
            <a:stCxn id="8" idx="1"/>
            <a:endCxn id="9" idx="4"/>
          </p:cNvCxnSpPr>
          <p:nvPr/>
        </p:nvCxnSpPr>
        <p:spPr>
          <a:xfrm rot="10800000">
            <a:off x="5516062" y="3586922"/>
            <a:ext cx="552518" cy="498771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/>
          <p:cNvCxnSpPr>
            <a:stCxn id="9" idx="2"/>
            <a:endCxn id="4" idx="3"/>
          </p:cNvCxnSpPr>
          <p:nvPr/>
        </p:nvCxnSpPr>
        <p:spPr>
          <a:xfrm flipH="1">
            <a:off x="4552731" y="3360381"/>
            <a:ext cx="73679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カギ線コネクタ 23"/>
          <p:cNvCxnSpPr>
            <a:stCxn id="4" idx="1"/>
            <a:endCxn id="2" idx="1"/>
          </p:cNvCxnSpPr>
          <p:nvPr/>
        </p:nvCxnSpPr>
        <p:spPr>
          <a:xfrm rot="10800000" flipH="1">
            <a:off x="2239276" y="2186313"/>
            <a:ext cx="1347287" cy="1174068"/>
          </a:xfrm>
          <a:prstGeom prst="bentConnector3">
            <a:avLst>
              <a:gd name="adj1" fmla="val -16967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カギ線コネクタ 26"/>
          <p:cNvCxnSpPr>
            <a:stCxn id="2" idx="3"/>
            <a:endCxn id="5" idx="1"/>
          </p:cNvCxnSpPr>
          <p:nvPr/>
        </p:nvCxnSpPr>
        <p:spPr>
          <a:xfrm flipV="1">
            <a:off x="5153531" y="2186312"/>
            <a:ext cx="959611" cy="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カギ線コネクタ 29"/>
          <p:cNvCxnSpPr>
            <a:stCxn id="6" idx="2"/>
            <a:endCxn id="7" idx="3"/>
          </p:cNvCxnSpPr>
          <p:nvPr/>
        </p:nvCxnSpPr>
        <p:spPr>
          <a:xfrm rot="5400000">
            <a:off x="9039204" y="2687978"/>
            <a:ext cx="989403" cy="355403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線矢印コネクタ 32"/>
          <p:cNvCxnSpPr>
            <a:stCxn id="5" idx="3"/>
            <a:endCxn id="6" idx="1"/>
          </p:cNvCxnSpPr>
          <p:nvPr/>
        </p:nvCxnSpPr>
        <p:spPr>
          <a:xfrm>
            <a:off x="8031424" y="2186312"/>
            <a:ext cx="106023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テキスト ボックス 44"/>
              <p:cNvSpPr txBox="1"/>
              <p:nvPr/>
            </p:nvSpPr>
            <p:spPr>
              <a:xfrm>
                <a:off x="5831250" y="2739794"/>
                <a:ext cx="87844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osition: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1" lang="ja-JP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5" name="テキスト ボックス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1250" y="2739794"/>
                <a:ext cx="878446" cy="553998"/>
              </a:xfrm>
              <a:prstGeom prst="rect">
                <a:avLst/>
              </a:prstGeom>
              <a:blipFill rotWithShape="0">
                <a:blip r:embed="rId2"/>
                <a:stretch>
                  <a:fillRect l="-16667" t="-14286" r="-1527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テキスト ボックス 45"/>
              <p:cNvSpPr txBox="1"/>
              <p:nvPr/>
            </p:nvSpPr>
            <p:spPr>
              <a:xfrm>
                <a:off x="4567313" y="3718876"/>
                <a:ext cx="82073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osition: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6" name="テキスト ボックス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7313" y="3718876"/>
                <a:ext cx="820738" cy="553998"/>
              </a:xfrm>
              <a:prstGeom prst="rect">
                <a:avLst/>
              </a:prstGeom>
              <a:blipFill rotWithShape="0">
                <a:blip r:embed="rId3"/>
                <a:stretch>
                  <a:fillRect l="-16296" t="-14286" r="-17037" b="-769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テキスト ボックス 47"/>
              <p:cNvSpPr txBox="1"/>
              <p:nvPr/>
            </p:nvSpPr>
            <p:spPr>
              <a:xfrm>
                <a:off x="4595472" y="2739794"/>
                <a:ext cx="702500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Error: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̂"/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8" name="テキスト ボックス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5472" y="2739794"/>
                <a:ext cx="702500" cy="553998"/>
              </a:xfrm>
              <a:prstGeom prst="rect">
                <a:avLst/>
              </a:prstGeom>
              <a:blipFill rotWithShape="0">
                <a:blip r:embed="rId4"/>
                <a:stretch>
                  <a:fillRect l="-17391" t="-14286" r="-46087" b="-769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テキスト ボックス 48"/>
              <p:cNvSpPr txBox="1"/>
              <p:nvPr/>
            </p:nvSpPr>
            <p:spPr>
              <a:xfrm>
                <a:off x="5561489" y="3580377"/>
                <a:ext cx="23083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テキスト ボックス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1489" y="3580377"/>
                <a:ext cx="230832" cy="276999"/>
              </a:xfrm>
              <a:prstGeom prst="rect">
                <a:avLst/>
              </a:prstGeom>
              <a:blipFill rotWithShape="0">
                <a:blip r:embed="rId5"/>
                <a:stretch>
                  <a:fillRect l="-18421" r="-21053" b="-86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テキスト ボックス 49"/>
              <p:cNvSpPr txBox="1"/>
              <p:nvPr/>
            </p:nvSpPr>
            <p:spPr>
              <a:xfrm>
                <a:off x="5837748" y="3356829"/>
                <a:ext cx="23083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ja-JP" altLang="en-US" i="1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" name="テキスト ボックス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7748" y="3356829"/>
                <a:ext cx="230832" cy="276999"/>
              </a:xfrm>
              <a:prstGeom prst="rect">
                <a:avLst/>
              </a:prstGeom>
              <a:blipFill rotWithShape="0">
                <a:blip r:embed="rId6"/>
                <a:stretch>
                  <a:fillRect l="-5263" r="-263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テキスト ボックス 53"/>
          <p:cNvSpPr txBox="1"/>
          <p:nvPr/>
        </p:nvSpPr>
        <p:spPr>
          <a:xfrm>
            <a:off x="2053860" y="2572280"/>
            <a:ext cx="960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Input: </a:t>
            </a:r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endParaRPr kumimoji="1" lang="ja-JP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テキスト ボックス 54"/>
              <p:cNvSpPr txBox="1"/>
              <p:nvPr/>
            </p:nvSpPr>
            <p:spPr>
              <a:xfrm>
                <a:off x="8082681" y="1587006"/>
                <a:ext cx="9524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Torque:</a:t>
                </a:r>
                <a:r>
                  <a:rPr lang="ja-JP" altLang="en-US" dirty="0" smtClean="0"/>
                  <a:t> </a:t>
                </a:r>
                <a:endParaRPr lang="en-US" altLang="ja-JP" dirty="0" smtClean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ja-JP" altLang="en-US" i="1" smtClean="0">
                          <a:latin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kumimoji="1" lang="en-US" altLang="ja-JP" dirty="0" smtClean="0"/>
              </a:p>
            </p:txBody>
          </p:sp>
        </mc:Choice>
        <mc:Fallback xmlns="">
          <p:sp>
            <p:nvSpPr>
              <p:cNvPr id="55" name="テキスト ボックス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2681" y="1587006"/>
                <a:ext cx="952440" cy="646331"/>
              </a:xfrm>
              <a:prstGeom prst="rect">
                <a:avLst/>
              </a:prstGeom>
              <a:blipFill rotWithShape="0">
                <a:blip r:embed="rId7"/>
                <a:stretch>
                  <a:fillRect l="-5769" t="-566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テキスト ボックス 89"/>
              <p:cNvSpPr txBox="1"/>
              <p:nvPr/>
            </p:nvSpPr>
            <p:spPr>
              <a:xfrm>
                <a:off x="5222967" y="1633172"/>
                <a:ext cx="82073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Attitude: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ja-JP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0" name="テキスト ボックス 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2967" y="1633172"/>
                <a:ext cx="820738" cy="553998"/>
              </a:xfrm>
              <a:prstGeom prst="rect">
                <a:avLst/>
              </a:prstGeom>
              <a:blipFill rotWithShape="0">
                <a:blip r:embed="rId8"/>
                <a:stretch>
                  <a:fillRect l="-17910" t="-14286" r="-17164" b="-769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68607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923" y="1194487"/>
            <a:ext cx="6728839" cy="5013242"/>
          </a:xfrm>
          <a:prstGeom prst="rect">
            <a:avLst/>
          </a:prstGeom>
        </p:spPr>
      </p:pic>
      <p:cxnSp>
        <p:nvCxnSpPr>
          <p:cNvPr id="4" name="直線矢印コネクタ 3"/>
          <p:cNvCxnSpPr/>
          <p:nvPr/>
        </p:nvCxnSpPr>
        <p:spPr>
          <a:xfrm flipH="1">
            <a:off x="4786184" y="2981412"/>
            <a:ext cx="766118" cy="107160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線矢印コネクタ 5"/>
          <p:cNvCxnSpPr/>
          <p:nvPr/>
        </p:nvCxnSpPr>
        <p:spPr>
          <a:xfrm flipH="1" flipV="1">
            <a:off x="4094205" y="1787611"/>
            <a:ext cx="1285104" cy="5931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線矢印コネクタ 6"/>
          <p:cNvCxnSpPr/>
          <p:nvPr/>
        </p:nvCxnSpPr>
        <p:spPr>
          <a:xfrm flipH="1" flipV="1">
            <a:off x="5861959" y="1017373"/>
            <a:ext cx="0" cy="8855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/>
              <p:cNvSpPr txBox="1"/>
              <p:nvPr/>
            </p:nvSpPr>
            <p:spPr>
              <a:xfrm>
                <a:off x="5587653" y="555708"/>
                <a:ext cx="54861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9" name="テキスト ボックス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653" y="555708"/>
                <a:ext cx="548612" cy="461665"/>
              </a:xfrm>
              <a:prstGeom prst="rect">
                <a:avLst/>
              </a:prstGeom>
              <a:blipFill rotWithShape="0">
                <a:blip r:embed="rId3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テキスト ボックス 9"/>
              <p:cNvSpPr txBox="1"/>
              <p:nvPr/>
            </p:nvSpPr>
            <p:spPr>
              <a:xfrm>
                <a:off x="4375029" y="3875044"/>
                <a:ext cx="56925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10" name="テキスト ボックス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5029" y="3875044"/>
                <a:ext cx="569258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/>
              <p:cNvSpPr txBox="1"/>
              <p:nvPr/>
            </p:nvSpPr>
            <p:spPr>
              <a:xfrm>
                <a:off x="3600821" y="1414677"/>
                <a:ext cx="56752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11" name="テキスト ボックス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821" y="1414677"/>
                <a:ext cx="567527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テキスト ボックス 12"/>
          <p:cNvSpPr txBox="1"/>
          <p:nvPr/>
        </p:nvSpPr>
        <p:spPr>
          <a:xfrm>
            <a:off x="1447066" y="4692185"/>
            <a:ext cx="3581894" cy="181588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650g, 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2633KV</a:t>
            </a:r>
          </a:p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Propeller(Inch): </a:t>
            </a:r>
          </a:p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5(diameter) × 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3(pitch)</a:t>
            </a:r>
            <a:endParaRPr kumimoji="1" lang="en-US" altLang="ja-JP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LiPo (3Cell 1800mAh)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93791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/>
        </p:nvSpPr>
        <p:spPr>
          <a:xfrm rot="19931376">
            <a:off x="3585771" y="3595330"/>
            <a:ext cx="4780547" cy="28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/>
          <p:cNvSpPr/>
          <p:nvPr/>
        </p:nvSpPr>
        <p:spPr>
          <a:xfrm rot="2056883">
            <a:off x="4141491" y="3505914"/>
            <a:ext cx="4391980" cy="28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円/楕円 3"/>
          <p:cNvSpPr/>
          <p:nvPr/>
        </p:nvSpPr>
        <p:spPr>
          <a:xfrm>
            <a:off x="3593473" y="2074435"/>
            <a:ext cx="2101516" cy="7058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円/楕円 4"/>
          <p:cNvSpPr/>
          <p:nvPr/>
        </p:nvSpPr>
        <p:spPr>
          <a:xfrm>
            <a:off x="6641392" y="4477455"/>
            <a:ext cx="2101516" cy="7058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円/楕円 5"/>
          <p:cNvSpPr/>
          <p:nvPr/>
        </p:nvSpPr>
        <p:spPr>
          <a:xfrm>
            <a:off x="2743915" y="4477455"/>
            <a:ext cx="2101516" cy="7058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円/楕円 6"/>
          <p:cNvSpPr/>
          <p:nvPr/>
        </p:nvSpPr>
        <p:spPr>
          <a:xfrm>
            <a:off x="7374934" y="2074435"/>
            <a:ext cx="2101516" cy="7058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矢印コネクタ 11"/>
          <p:cNvCxnSpPr/>
          <p:nvPr/>
        </p:nvCxnSpPr>
        <p:spPr>
          <a:xfrm flipV="1">
            <a:off x="6219475" y="3580745"/>
            <a:ext cx="3192807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/>
          <p:cNvCxnSpPr/>
          <p:nvPr/>
        </p:nvCxnSpPr>
        <p:spPr>
          <a:xfrm flipH="1">
            <a:off x="5358423" y="3578151"/>
            <a:ext cx="901517" cy="1769298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/>
          <p:cNvCxnSpPr/>
          <p:nvPr/>
        </p:nvCxnSpPr>
        <p:spPr>
          <a:xfrm flipV="1">
            <a:off x="6246324" y="1347537"/>
            <a:ext cx="26989" cy="22666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円弧 26"/>
          <p:cNvSpPr/>
          <p:nvPr/>
        </p:nvSpPr>
        <p:spPr>
          <a:xfrm rot="5400000">
            <a:off x="8399058" y="3377401"/>
            <a:ext cx="838222" cy="401500"/>
          </a:xfrm>
          <a:prstGeom prst="arc">
            <a:avLst>
              <a:gd name="adj1" fmla="val 19914093"/>
              <a:gd name="adj2" fmla="val 12796226"/>
            </a:avLst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二等辺三角形 28"/>
          <p:cNvSpPr/>
          <p:nvPr/>
        </p:nvSpPr>
        <p:spPr>
          <a:xfrm rot="1984793">
            <a:off x="8898967" y="3652710"/>
            <a:ext cx="213684" cy="24459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円弧 29"/>
          <p:cNvSpPr/>
          <p:nvPr/>
        </p:nvSpPr>
        <p:spPr>
          <a:xfrm rot="17972248">
            <a:off x="5359566" y="4400673"/>
            <a:ext cx="512992" cy="914400"/>
          </a:xfrm>
          <a:prstGeom prst="arc">
            <a:avLst>
              <a:gd name="adj1" fmla="val 13516689"/>
              <a:gd name="adj2" fmla="val 8083539"/>
            </a:avLst>
          </a:prstGeom>
          <a:noFill/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二等辺三角形 30"/>
          <p:cNvSpPr/>
          <p:nvPr/>
        </p:nvSpPr>
        <p:spPr>
          <a:xfrm rot="7590178">
            <a:off x="5212816" y="4796971"/>
            <a:ext cx="218236" cy="263188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円弧 31"/>
          <p:cNvSpPr/>
          <p:nvPr/>
        </p:nvSpPr>
        <p:spPr>
          <a:xfrm>
            <a:off x="5747293" y="1625032"/>
            <a:ext cx="998062" cy="401500"/>
          </a:xfrm>
          <a:prstGeom prst="arc">
            <a:avLst>
              <a:gd name="adj1" fmla="val 19914093"/>
              <a:gd name="adj2" fmla="val 12796226"/>
            </a:avLst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二等辺三角形 32"/>
          <p:cNvSpPr/>
          <p:nvPr/>
        </p:nvSpPr>
        <p:spPr>
          <a:xfrm rot="3922974">
            <a:off x="5908335" y="1506195"/>
            <a:ext cx="232833" cy="2376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テキスト ボックス 33"/>
              <p:cNvSpPr txBox="1"/>
              <p:nvPr/>
            </p:nvSpPr>
            <p:spPr>
              <a:xfrm>
                <a:off x="5816232" y="531810"/>
                <a:ext cx="91416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4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4800" dirty="0"/>
              </a:p>
            </p:txBody>
          </p:sp>
        </mc:Choice>
        <mc:Fallback xmlns="">
          <p:sp>
            <p:nvSpPr>
              <p:cNvPr id="34" name="テキスト ボックス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232" y="531810"/>
                <a:ext cx="914161" cy="830997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テキスト ボックス 34"/>
              <p:cNvSpPr txBox="1"/>
              <p:nvPr/>
            </p:nvSpPr>
            <p:spPr>
              <a:xfrm>
                <a:off x="9318280" y="3086345"/>
                <a:ext cx="95699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4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4800" dirty="0"/>
              </a:p>
            </p:txBody>
          </p:sp>
        </mc:Choice>
        <mc:Fallback xmlns="">
          <p:sp>
            <p:nvSpPr>
              <p:cNvPr id="35" name="テキスト ボックス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280" y="3086345"/>
                <a:ext cx="956993" cy="83099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テキスト ボックス 35"/>
              <p:cNvSpPr txBox="1"/>
              <p:nvPr/>
            </p:nvSpPr>
            <p:spPr>
              <a:xfrm>
                <a:off x="4828875" y="5190532"/>
                <a:ext cx="95199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4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4800" dirty="0"/>
              </a:p>
            </p:txBody>
          </p:sp>
        </mc:Choice>
        <mc:Fallback xmlns="">
          <p:sp>
            <p:nvSpPr>
              <p:cNvPr id="36" name="テキスト ボックス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875" y="5190532"/>
                <a:ext cx="951991" cy="830997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テキスト ボックス 36"/>
              <p:cNvSpPr txBox="1"/>
              <p:nvPr/>
            </p:nvSpPr>
            <p:spPr>
              <a:xfrm>
                <a:off x="5892056" y="3684841"/>
                <a:ext cx="940066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4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4800" dirty="0"/>
              </a:p>
            </p:txBody>
          </p:sp>
        </mc:Choice>
        <mc:Fallback xmlns="">
          <p:sp>
            <p:nvSpPr>
              <p:cNvPr id="37" name="テキスト ボックス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056" y="3684841"/>
                <a:ext cx="940066" cy="830997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テキスト ボックス 37"/>
              <p:cNvSpPr txBox="1"/>
              <p:nvPr/>
            </p:nvSpPr>
            <p:spPr>
              <a:xfrm>
                <a:off x="6940470" y="1397207"/>
                <a:ext cx="138557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ja-JP" altLang="en-US" sz="360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kumimoji="1" lang="en-US" altLang="ja-JP" sz="3600" dirty="0" smtClean="0"/>
                  <a:t>: </a:t>
                </a:r>
                <a:r>
                  <a:rPr kumimoji="1" lang="en-US" altLang="ja-JP" sz="3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Yaw</a:t>
                </a:r>
                <a:endParaRPr kumimoji="1" lang="ja-JP" alt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テキスト ボックス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0470" y="1397207"/>
                <a:ext cx="1385572" cy="553998"/>
              </a:xfrm>
              <a:prstGeom prst="rect">
                <a:avLst/>
              </a:prstGeom>
              <a:blipFill rotWithShape="0">
                <a:blip r:embed="rId6"/>
                <a:stretch>
                  <a:fillRect t="-27473" r="-18062" b="-5054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テキスト ボックス 38"/>
              <p:cNvSpPr txBox="1"/>
              <p:nvPr/>
            </p:nvSpPr>
            <p:spPr>
              <a:xfrm>
                <a:off x="8686964" y="4120536"/>
                <a:ext cx="129593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ja-JP" altLang="en-US" sz="360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kumimoji="1" lang="en-US" altLang="ja-JP" sz="3600" dirty="0" smtClean="0"/>
                  <a:t>: </a:t>
                </a:r>
                <a:r>
                  <a:rPr lang="en-US" altLang="ja-JP" sz="3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Roll</a:t>
                </a:r>
                <a:endParaRPr kumimoji="1" lang="ja-JP" alt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" name="テキスト ボックス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964" y="4120536"/>
                <a:ext cx="1295932" cy="553998"/>
              </a:xfrm>
              <a:prstGeom prst="rect">
                <a:avLst/>
              </a:prstGeom>
              <a:blipFill rotWithShape="0">
                <a:blip r:embed="rId7"/>
                <a:stretch>
                  <a:fillRect l="-469" t="-27473" r="-20657" b="-494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テキスト ボックス 39"/>
              <p:cNvSpPr txBox="1"/>
              <p:nvPr/>
            </p:nvSpPr>
            <p:spPr>
              <a:xfrm>
                <a:off x="5792475" y="5215156"/>
                <a:ext cx="1502334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ja-JP" altLang="en-US" sz="360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kumimoji="1" lang="en-US" altLang="ja-JP" sz="3600" dirty="0" smtClean="0"/>
                  <a:t>: </a:t>
                </a:r>
                <a:r>
                  <a:rPr lang="en-US" altLang="ja-JP" sz="3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Pitch</a:t>
                </a:r>
                <a:endParaRPr kumimoji="1" lang="ja-JP" alt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0" name="テキスト ボックス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2475" y="5215156"/>
                <a:ext cx="1502334" cy="553998"/>
              </a:xfrm>
              <a:prstGeom prst="rect">
                <a:avLst/>
              </a:prstGeom>
              <a:blipFill rotWithShape="0">
                <a:blip r:embed="rId8"/>
                <a:stretch>
                  <a:fillRect t="-27778" r="-18219" b="-5111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49999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データ 1"/>
          <p:cNvSpPr/>
          <p:nvPr/>
        </p:nvSpPr>
        <p:spPr>
          <a:xfrm rot="1242852">
            <a:off x="3294509" y="1720057"/>
            <a:ext cx="6262237" cy="3346085"/>
          </a:xfrm>
          <a:prstGeom prst="flowChartInputOutpu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円/楕円 2"/>
          <p:cNvSpPr/>
          <p:nvPr/>
        </p:nvSpPr>
        <p:spPr>
          <a:xfrm>
            <a:off x="2037347" y="3393099"/>
            <a:ext cx="563002" cy="56300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86851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924185">
            <a:off x="4535386" y="1683661"/>
            <a:ext cx="2996066" cy="2996066"/>
          </a:xfrm>
          <a:prstGeom prst="rect">
            <a:avLst/>
          </a:prstGeom>
          <a:ln w="12700">
            <a:solidFill>
              <a:schemeClr val="bg1"/>
            </a:solidFill>
          </a:ln>
        </p:spPr>
      </p:pic>
      <p:cxnSp>
        <p:nvCxnSpPr>
          <p:cNvPr id="4" name="直線矢印コネクタ 3"/>
          <p:cNvCxnSpPr/>
          <p:nvPr/>
        </p:nvCxnSpPr>
        <p:spPr>
          <a:xfrm flipH="1">
            <a:off x="4868562" y="3678796"/>
            <a:ext cx="914402" cy="91045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矢印コネクタ 4"/>
          <p:cNvCxnSpPr/>
          <p:nvPr/>
        </p:nvCxnSpPr>
        <p:spPr>
          <a:xfrm flipV="1">
            <a:off x="5782963" y="1383957"/>
            <a:ext cx="0" cy="230659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矢印コネクタ 5"/>
          <p:cNvCxnSpPr/>
          <p:nvPr/>
        </p:nvCxnSpPr>
        <p:spPr>
          <a:xfrm>
            <a:off x="5782963" y="3678796"/>
            <a:ext cx="1482810" cy="69549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/>
          <p:cNvSpPr txBox="1"/>
          <p:nvPr/>
        </p:nvSpPr>
        <p:spPr>
          <a:xfrm>
            <a:off x="5610480" y="799182"/>
            <a:ext cx="3449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kumimoji="1" lang="ja-JP" altLang="en-US" sz="32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4501154" y="4450422"/>
            <a:ext cx="3674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kumimoji="1" lang="ja-JP" altLang="en-US" sz="32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7348151" y="4117728"/>
            <a:ext cx="3674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kumimoji="1" lang="ja-JP" altLang="en-US" sz="32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5095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7884</TotalTime>
  <Words>326</Words>
  <Application>Microsoft Office PowerPoint</Application>
  <PresentationFormat>ワイド画面</PresentationFormat>
  <Paragraphs>146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2" baseType="lpstr">
      <vt:lpstr>ＭＳ Ｐゴシック</vt:lpstr>
      <vt:lpstr>Arial</vt:lpstr>
      <vt:lpstr>Calibri</vt:lpstr>
      <vt:lpstr>Calibri Light</vt:lpstr>
      <vt:lpstr>Cambria Math</vt:lpstr>
      <vt:lpstr>Times New Roman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翔太</dc:creator>
  <cp:lastModifiedBy>中村 翔太</cp:lastModifiedBy>
  <cp:revision>71</cp:revision>
  <dcterms:created xsi:type="dcterms:W3CDTF">2019-06-16T04:41:44Z</dcterms:created>
  <dcterms:modified xsi:type="dcterms:W3CDTF">2019-12-29T10:56:12Z</dcterms:modified>
</cp:coreProperties>
</file>