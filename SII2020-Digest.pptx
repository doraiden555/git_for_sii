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07200" cy="99393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37" autoAdjust="0"/>
    <p:restoredTop sz="90929"/>
  </p:normalViewPr>
  <p:slideViewPr>
    <p:cSldViewPr>
      <p:cViewPr varScale="1">
        <p:scale>
          <a:sx n="106" d="100"/>
          <a:sy n="106" d="100"/>
        </p:scale>
        <p:origin x="166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ACBCC38E-A988-4769-925D-C4B00D1926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06CA1CA8-1E63-4AC1-991D-33A70203A8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BACD769C-362D-478C-BE8B-A7D3349F7E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161A65-FB9C-46D6-A16C-9E3E5186BB2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62306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06DF65A2-4A26-4099-A454-6F4DA198C7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37ACE3C4-B9FA-44E9-A2FE-A002ABF169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2331CAF2-A54E-4885-B400-9A963DCD56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862B51-0555-431D-943D-477363FB3D1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3007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78D8AC90-DE9B-4653-B79F-61CA779606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8E6F87FF-1CFB-40CA-8C49-82606F9520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480F7545-F044-4B6F-8EFA-0E9FF22B65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CCBC45-E54C-4E7A-8B06-1F188856396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6993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643BB58-4A80-498C-8868-7D891C5B8A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104EB24E-90FD-42F1-B507-CF8EA41395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8CCF172-D73D-449D-980F-195B2FE880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8F77F-9E87-4034-A1D8-C3FD4C3872F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9856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C940C7F8-79EB-4B57-95E2-20A32B2518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>
            <a:extLst>
              <a:ext uri="{FF2B5EF4-FFF2-40B4-BE49-F238E27FC236}">
                <a16:creationId xmlns="" xmlns:a16="http://schemas.microsoft.com/office/drawing/2014/main" id="{C1C6F0DE-C159-45F4-BA6F-77346456C5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="" xmlns:a16="http://schemas.microsoft.com/office/drawing/2014/main" id="{69530800-0F71-462D-98D9-E2981FB44C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88EE56-E3C3-4303-9D99-B46EF2CA873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88611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="" xmlns:a16="http://schemas.microsoft.com/office/drawing/2014/main" id="{7A798EF1-A52A-475F-A252-EAEFC0612B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8A420F61-B358-4098-853D-45739EAE6B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7D9DBBE4-86EE-45EA-BF29-41CC4A5B13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A00DBD-5E08-4F1C-A173-BA9FEFBC490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18190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="" xmlns:a16="http://schemas.microsoft.com/office/drawing/2014/main" id="{45705632-E848-47C7-9003-3723ED9D89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>
            <a:extLst>
              <a:ext uri="{FF2B5EF4-FFF2-40B4-BE49-F238E27FC236}">
                <a16:creationId xmlns="" xmlns:a16="http://schemas.microsoft.com/office/drawing/2014/main" id="{9959452C-9378-4598-BB57-DD3ECF6BD4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49414F43-7AE4-4931-BBC5-F587FFDF0C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89B4BF-8C71-470A-9EA4-8CB2814C8E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6121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9C64BC28-A1E0-4B52-81B7-B8527FA91F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5A75ABE0-E976-460A-82E3-992775E9C9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83CE074-E756-4400-A331-EE4BA0B2E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5EDC2-9F5D-4974-A849-DD9D18C3FC3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2430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と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9101E18-1981-47DE-926C-7E33C692C9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65A87DA3-4032-4C38-86DE-8B62A9E93F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23D1390C-C053-4C14-87C4-04B8DC10E8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56BD3-6B08-422B-8655-DAD87D2355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25240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B7E5E35C-BF04-4874-AE60-F2505A8FE9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4102D9A2-00F5-4A89-B86C-F254B263C6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331BEE35-B932-4C07-9C9E-E22DD168D3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4E6ED-D1DA-44E6-8A0D-39B4186E1B9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32966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/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40A40C16-8A0F-4DC8-8C3A-91AC1A671A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96F84CE8-83CE-49E9-AC2F-0C309F5A16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27CE9095-F73D-417A-AA2E-BD0C2344DA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B90E4-2605-4FB8-8E95-9BED524B4E1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75379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="" xmlns:a16="http://schemas.microsoft.com/office/drawing/2014/main" id="{64488907-8BF1-4AFA-80B3-36919822A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="" xmlns:a16="http://schemas.microsoft.com/office/drawing/2014/main" id="{52312DDC-DD1A-4D26-AF7A-A27710856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="" xmlns:a16="http://schemas.microsoft.com/office/drawing/2014/main" id="{01E369AC-BC75-4420-9032-A86EFEE10B1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>
            <a:extLst>
              <a:ext uri="{FF2B5EF4-FFF2-40B4-BE49-F238E27FC236}">
                <a16:creationId xmlns="" xmlns:a16="http://schemas.microsoft.com/office/drawing/2014/main" id="{8C2B91FB-BF9B-4411-8438-3BE33CEDA5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ＭＳ Ｐゴシック" pitchFamily="1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>
            <a:extLst>
              <a:ext uri="{FF2B5EF4-FFF2-40B4-BE49-F238E27FC236}">
                <a16:creationId xmlns="" xmlns:a16="http://schemas.microsoft.com/office/drawing/2014/main" id="{0B75DA8E-7C77-4813-A051-D15EA01F0C7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38BF9AB-9F4A-468A-B08A-C9D8016749E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>
            <a:extLst>
              <a:ext uri="{FF2B5EF4-FFF2-40B4-BE49-F238E27FC236}">
                <a16:creationId xmlns="" xmlns:a16="http://schemas.microsoft.com/office/drawing/2014/main" id="{93B06D02-A166-4B5E-8C01-B30AA983A7F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0" y="115888"/>
            <a:ext cx="91440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ja-JP" sz="2800" b="1" dirty="0" smtClean="0">
                <a:solidFill>
                  <a:schemeClr val="tx2"/>
                </a:solidFill>
                <a:ea typeface="PMingLiU" panose="02020500000000000000" pitchFamily="18" charset="-120"/>
              </a:rPr>
              <a:t>A Positioning System and Position Control System of a </a:t>
            </a:r>
            <a:r>
              <a:rPr kumimoji="0" lang="en-US" altLang="ja-JP" sz="2800" b="1" dirty="0" smtClean="0">
                <a:solidFill>
                  <a:schemeClr val="tx2"/>
                </a:solidFill>
                <a:ea typeface="PMingLiU" panose="02020500000000000000" pitchFamily="18" charset="-120"/>
              </a:rPr>
              <a:t>Quad-Rotor </a:t>
            </a:r>
            <a:r>
              <a:rPr kumimoji="0" lang="en-US" altLang="ja-JP" sz="2800" b="1" dirty="0" smtClean="0">
                <a:solidFill>
                  <a:schemeClr val="tx2"/>
                </a:solidFill>
                <a:ea typeface="PMingLiU" panose="02020500000000000000" pitchFamily="18" charset="-120"/>
              </a:rPr>
              <a:t>Applying </a:t>
            </a:r>
            <a:r>
              <a:rPr kumimoji="0" lang="en-US" altLang="ja-JP" sz="2800" b="1" dirty="0" err="1" smtClean="0">
                <a:solidFill>
                  <a:schemeClr val="tx2"/>
                </a:solidFill>
                <a:ea typeface="PMingLiU" panose="02020500000000000000" pitchFamily="18" charset="-120"/>
              </a:rPr>
              <a:t>Kalman</a:t>
            </a:r>
            <a:r>
              <a:rPr kumimoji="0" lang="en-US" altLang="ja-JP" sz="2800" b="1" dirty="0" smtClean="0">
                <a:solidFill>
                  <a:schemeClr val="tx2"/>
                </a:solidFill>
                <a:ea typeface="PMingLiU" panose="02020500000000000000" pitchFamily="18" charset="-120"/>
              </a:rPr>
              <a:t> Filter to </a:t>
            </a:r>
            <a:r>
              <a:rPr kumimoji="0" lang="en-US" altLang="ja-JP" sz="2800" b="1" dirty="0" smtClean="0">
                <a:solidFill>
                  <a:schemeClr val="tx2"/>
                </a:solidFill>
                <a:ea typeface="PMingLiU" panose="02020500000000000000" pitchFamily="18" charset="-120"/>
              </a:rPr>
              <a:t>a </a:t>
            </a:r>
            <a:r>
              <a:rPr kumimoji="0" lang="en-US" altLang="ja-JP" sz="2800" b="1" dirty="0" smtClean="0">
                <a:solidFill>
                  <a:schemeClr val="tx2"/>
                </a:solidFill>
                <a:ea typeface="PMingLiU" panose="02020500000000000000" pitchFamily="18" charset="-120"/>
              </a:rPr>
              <a:t>UWB Module and an IMU </a:t>
            </a:r>
          </a:p>
        </p:txBody>
      </p:sp>
      <p:sp>
        <p:nvSpPr>
          <p:cNvPr id="2051" name="Rectangle 5">
            <a:extLst>
              <a:ext uri="{FF2B5EF4-FFF2-40B4-BE49-F238E27FC236}">
                <a16:creationId xmlns="" xmlns:a16="http://schemas.microsoft.com/office/drawing/2014/main" id="{4DAEDFED-D4E8-4645-88EA-ABD5CCE4105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23528" y="3284984"/>
            <a:ext cx="4689229" cy="3308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96850" indent="-19685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r>
              <a:rPr kumimoji="0" lang="en-US" altLang="ja-JP" sz="2000" dirty="0">
                <a:ea typeface="PMingLiU" panose="02020500000000000000" pitchFamily="18" charset="-120"/>
              </a:rPr>
              <a:t>Position 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>estimation </a:t>
            </a:r>
            <a:r>
              <a:rPr kumimoji="0" lang="en-US" altLang="ja-JP" sz="2000" dirty="0">
                <a:ea typeface="PMingLiU" panose="02020500000000000000" pitchFamily="18" charset="-120"/>
              </a:rPr>
              <a:t>methods of 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/>
            </a:r>
            <a:br>
              <a:rPr kumimoji="0" lang="en-US" altLang="ja-JP" sz="2000" dirty="0" smtClean="0">
                <a:ea typeface="PMingLiU" panose="02020500000000000000" pitchFamily="18" charset="-120"/>
              </a:rPr>
            </a:br>
            <a:r>
              <a:rPr kumimoji="0" lang="en-US" altLang="ja-JP" sz="2000" dirty="0" smtClean="0">
                <a:ea typeface="PMingLiU" panose="02020500000000000000" pitchFamily="18" charset="-120"/>
              </a:rPr>
              <a:t>a quad-rotor </a:t>
            </a:r>
            <a:r>
              <a:rPr kumimoji="0" lang="en-US" altLang="ja-JP" sz="2000" dirty="0">
                <a:ea typeface="PMingLiU" panose="02020500000000000000" pitchFamily="18" charset="-120"/>
              </a:rPr>
              <a:t>applying data from 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>an IMU </a:t>
            </a:r>
            <a:r>
              <a:rPr kumimoji="0" lang="en-US" altLang="ja-JP" sz="2000" dirty="0">
                <a:ea typeface="PMingLiU" panose="02020500000000000000" pitchFamily="18" charset="-120"/>
              </a:rPr>
              <a:t>and 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>a UWB 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>module to </a:t>
            </a:r>
            <a:r>
              <a:rPr kumimoji="0" lang="en-US" altLang="ja-JP" sz="2000" dirty="0" err="1">
                <a:ea typeface="PMingLiU" panose="02020500000000000000" pitchFamily="18" charset="-120"/>
              </a:rPr>
              <a:t>Kalman</a:t>
            </a:r>
            <a:r>
              <a:rPr kumimoji="0" lang="en-US" altLang="ja-JP" sz="2000" dirty="0">
                <a:ea typeface="PMingLiU" panose="02020500000000000000" pitchFamily="18" charset="-120"/>
              </a:rPr>
              <a:t> 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>filter</a:t>
            </a:r>
            <a:endParaRPr kumimoji="0" lang="en-US" altLang="ja-JP" sz="2000" dirty="0" smtClean="0">
              <a:ea typeface="PMingLiU" panose="02020500000000000000" pitchFamily="18" charset="-120"/>
            </a:endParaRPr>
          </a:p>
          <a:p>
            <a:r>
              <a:rPr kumimoji="0" lang="en-US" altLang="ja-JP" sz="2000" dirty="0">
                <a:ea typeface="PMingLiU" panose="02020500000000000000" pitchFamily="18" charset="-120"/>
              </a:rPr>
              <a:t>P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>osition 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>holding </a:t>
            </a:r>
            <a:r>
              <a:rPr kumimoji="0" lang="en-US" altLang="ja-JP" sz="2000" dirty="0">
                <a:ea typeface="PMingLiU" panose="02020500000000000000" pitchFamily="18" charset="-120"/>
              </a:rPr>
              <a:t>control 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>experiment </a:t>
            </a:r>
            <a:br>
              <a:rPr kumimoji="0" lang="en-US" altLang="ja-JP" sz="2000" dirty="0" smtClean="0">
                <a:ea typeface="PMingLiU" panose="02020500000000000000" pitchFamily="18" charset="-120"/>
              </a:rPr>
            </a:br>
            <a:r>
              <a:rPr kumimoji="0" lang="en-US" altLang="ja-JP" sz="2000" dirty="0" smtClean="0">
                <a:ea typeface="PMingLiU" panose="02020500000000000000" pitchFamily="18" charset="-120"/>
              </a:rPr>
              <a:t>using 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>the 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>proposed position estimator</a:t>
            </a:r>
            <a:endParaRPr kumimoji="0" lang="en-US" altLang="ja-JP" sz="2000" dirty="0" smtClean="0">
              <a:ea typeface="PMingLiU" panose="02020500000000000000" pitchFamily="18" charset="-120"/>
            </a:endParaRPr>
          </a:p>
          <a:p>
            <a:r>
              <a:rPr kumimoji="0" lang="en-US" altLang="ja-JP" sz="2000" dirty="0">
                <a:ea typeface="PMingLiU" panose="02020500000000000000" pitchFamily="18" charset="-120"/>
              </a:rPr>
              <a:t>P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>osition 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>moving control </a:t>
            </a:r>
            <a:r>
              <a:rPr kumimoji="0" lang="en-US" altLang="ja-JP" sz="2000" dirty="0">
                <a:ea typeface="PMingLiU" panose="02020500000000000000" pitchFamily="18" charset="-120"/>
              </a:rPr>
              <a:t>experiment 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>through three </a:t>
            </a:r>
            <a:r>
              <a:rPr kumimoji="0" lang="en-US" altLang="ja-JP" sz="2000" dirty="0">
                <a:ea typeface="PMingLiU" panose="02020500000000000000" pitchFamily="18" charset="-120"/>
              </a:rPr>
              <a:t>target points in </a:t>
            </a:r>
            <a:r>
              <a:rPr kumimoji="0" lang="en-US" altLang="ja-JP" sz="2000" dirty="0" smtClean="0">
                <a:ea typeface="PMingLiU" panose="02020500000000000000" pitchFamily="18" charset="-120"/>
              </a:rPr>
              <a:t>sequence</a:t>
            </a:r>
            <a:endParaRPr kumimoji="0" lang="en-US" altLang="ja-JP" sz="2000" dirty="0">
              <a:ea typeface="PMingLiU" panose="02020500000000000000" pitchFamily="18" charset="-120"/>
            </a:endParaRPr>
          </a:p>
        </p:txBody>
      </p:sp>
      <p:sp>
        <p:nvSpPr>
          <p:cNvPr id="2052" name="Rectangle 6">
            <a:extLst>
              <a:ext uri="{FF2B5EF4-FFF2-40B4-BE49-F238E27FC236}">
                <a16:creationId xmlns="" xmlns:a16="http://schemas.microsoft.com/office/drawing/2014/main" id="{79EC5223-9BA3-4800-91C8-916DA137F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3488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AU" altLang="ja-JP" sz="2400" dirty="0" smtClean="0">
                <a:solidFill>
                  <a:srgbClr val="000000"/>
                </a:solidFill>
                <a:ea typeface="PMingLiU" panose="02020500000000000000" pitchFamily="18" charset="-120"/>
              </a:rPr>
              <a:t>Shota Nakamura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ja-JP" sz="2000" dirty="0" smtClean="0">
                <a:solidFill>
                  <a:schemeClr val="tx2"/>
                </a:solidFill>
                <a:ea typeface="PMingLiU" panose="02020500000000000000" pitchFamily="18" charset="-120"/>
              </a:rPr>
              <a:t>Division of </a:t>
            </a:r>
            <a:r>
              <a:rPr kumimoji="0" lang="es-ES" altLang="ja-JP" sz="2000" dirty="0" smtClean="0">
                <a:solidFill>
                  <a:schemeClr val="tx2"/>
                </a:solidFill>
                <a:ea typeface="PMingLiU" panose="02020500000000000000" pitchFamily="18" charset="-120"/>
              </a:rPr>
              <a:t>Mechanodesign</a:t>
            </a:r>
            <a:r>
              <a:rPr kumimoji="0" lang="es-ES" altLang="ja-JP" sz="2000" dirty="0">
                <a:solidFill>
                  <a:schemeClr val="tx2"/>
                </a:solidFill>
                <a:ea typeface="PMingLiU" panose="02020500000000000000" pitchFamily="18" charset="-120"/>
              </a:rPr>
              <a:t>, </a:t>
            </a:r>
            <a:r>
              <a:rPr kumimoji="0" lang="es-ES" altLang="ja-JP" sz="2000" dirty="0" smtClean="0">
                <a:solidFill>
                  <a:schemeClr val="tx2"/>
                </a:solidFill>
                <a:ea typeface="PMingLiU" panose="02020500000000000000" pitchFamily="18" charset="-120"/>
              </a:rPr>
              <a:t>Kyoto Institute of Technology,</a:t>
            </a:r>
            <a:r>
              <a:rPr kumimoji="0" lang="en-US" altLang="ja-JP" sz="2000" dirty="0" smtClean="0">
                <a:solidFill>
                  <a:srgbClr val="000000"/>
                </a:solidFill>
                <a:ea typeface="PMingLiU" panose="02020500000000000000" pitchFamily="18" charset="-120"/>
              </a:rPr>
              <a:t> Japan</a:t>
            </a:r>
            <a:endParaRPr kumimoji="0" lang="en-US" altLang="ja-JP" sz="2000" dirty="0">
              <a:solidFill>
                <a:srgbClr val="000000"/>
              </a:solidFill>
              <a:ea typeface="PMingLiU" panose="02020500000000000000" pitchFamily="18" charset="-12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ja-JP" sz="2400" dirty="0" smtClean="0">
                <a:solidFill>
                  <a:srgbClr val="000000"/>
                </a:solidFill>
                <a:ea typeface="PMingLiU" panose="02020500000000000000" pitchFamily="18" charset="-120"/>
              </a:rPr>
              <a:t>Yoshiyuki Higashi, </a:t>
            </a:r>
            <a:r>
              <a:rPr kumimoji="0" lang="en-US" altLang="ja-JP" sz="2400" dirty="0" err="1" smtClean="0">
                <a:solidFill>
                  <a:srgbClr val="000000"/>
                </a:solidFill>
                <a:ea typeface="PMingLiU" panose="02020500000000000000" pitchFamily="18" charset="-120"/>
              </a:rPr>
              <a:t>Arata</a:t>
            </a:r>
            <a:r>
              <a:rPr kumimoji="0" lang="en-US" altLang="ja-JP" sz="2400" dirty="0" smtClean="0">
                <a:solidFill>
                  <a:srgbClr val="000000"/>
                </a:solidFill>
                <a:ea typeface="PMingLiU" panose="02020500000000000000" pitchFamily="18" charset="-120"/>
              </a:rPr>
              <a:t> </a:t>
            </a:r>
            <a:r>
              <a:rPr kumimoji="0" lang="en-US" altLang="ja-JP" sz="2400" dirty="0">
                <a:solidFill>
                  <a:srgbClr val="000000"/>
                </a:solidFill>
                <a:ea typeface="PMingLiU" panose="02020500000000000000" pitchFamily="18" charset="-120"/>
              </a:rPr>
              <a:t>M</a:t>
            </a:r>
            <a:r>
              <a:rPr kumimoji="0" lang="en-US" altLang="ja-JP" sz="2400" dirty="0" smtClean="0">
                <a:solidFill>
                  <a:srgbClr val="000000"/>
                </a:solidFill>
                <a:ea typeface="PMingLiU" panose="02020500000000000000" pitchFamily="18" charset="-120"/>
              </a:rPr>
              <a:t>asuda and </a:t>
            </a:r>
            <a:r>
              <a:rPr kumimoji="0" lang="en-US" altLang="ja-JP" sz="2400" dirty="0" err="1" smtClean="0">
                <a:solidFill>
                  <a:srgbClr val="000000"/>
                </a:solidFill>
                <a:ea typeface="PMingLiU" panose="02020500000000000000" pitchFamily="18" charset="-120"/>
              </a:rPr>
              <a:t>Nanako</a:t>
            </a:r>
            <a:r>
              <a:rPr kumimoji="0" lang="en-US" altLang="ja-JP" sz="2400" dirty="0" smtClean="0">
                <a:solidFill>
                  <a:srgbClr val="000000"/>
                </a:solidFill>
                <a:ea typeface="PMingLiU" panose="02020500000000000000" pitchFamily="18" charset="-120"/>
              </a:rPr>
              <a:t> Miura</a:t>
            </a:r>
            <a:r>
              <a:rPr kumimoji="0" lang="es-ES" altLang="ja-JP" sz="2000" dirty="0" smtClean="0">
                <a:solidFill>
                  <a:schemeClr val="tx2"/>
                </a:solidFill>
                <a:ea typeface="PMingLiU" panose="02020500000000000000" pitchFamily="18" charset="-120"/>
              </a:rPr>
              <a:t> </a:t>
            </a:r>
            <a:r>
              <a:rPr kumimoji="0" lang="es-ES" altLang="ja-JP" sz="2000" dirty="0">
                <a:solidFill>
                  <a:schemeClr val="tx2"/>
                </a:solidFill>
                <a:ea typeface="PMingLiU" panose="02020500000000000000" pitchFamily="18" charset="-120"/>
              </a:rPr>
              <a:t/>
            </a:r>
            <a:br>
              <a:rPr kumimoji="0" lang="es-ES" altLang="ja-JP" sz="2000" dirty="0">
                <a:solidFill>
                  <a:schemeClr val="tx2"/>
                </a:solidFill>
                <a:ea typeface="PMingLiU" panose="02020500000000000000" pitchFamily="18" charset="-120"/>
              </a:rPr>
            </a:br>
            <a:r>
              <a:rPr kumimoji="0" lang="es-ES" altLang="ja-JP" sz="2000" dirty="0">
                <a:solidFill>
                  <a:schemeClr val="tx2"/>
                </a:solidFill>
                <a:ea typeface="PMingLiU" panose="02020500000000000000" pitchFamily="18" charset="-120"/>
              </a:rPr>
              <a:t> </a:t>
            </a:r>
            <a:r>
              <a:rPr kumimoji="0" lang="es-ES" altLang="ja-JP" sz="2000" dirty="0" smtClean="0">
                <a:solidFill>
                  <a:schemeClr val="tx2"/>
                </a:solidFill>
                <a:ea typeface="PMingLiU" panose="02020500000000000000" pitchFamily="18" charset="-120"/>
              </a:rPr>
              <a:t>Faculty of Mechanical Engineering, Kyoto Institute of Technology,</a:t>
            </a:r>
            <a:r>
              <a:rPr kumimoji="0" lang="en-US" altLang="ja-JP" sz="2000" dirty="0" smtClean="0">
                <a:solidFill>
                  <a:srgbClr val="000000"/>
                </a:solidFill>
                <a:ea typeface="PMingLiU" panose="02020500000000000000" pitchFamily="18" charset="-120"/>
              </a:rPr>
              <a:t> Japan</a:t>
            </a:r>
            <a:endParaRPr kumimoji="0" lang="en-US" altLang="ja-JP" sz="2000" dirty="0">
              <a:solidFill>
                <a:srgbClr val="000000"/>
              </a:solidFill>
              <a:ea typeface="PMingLiU" panose="02020500000000000000" pitchFamily="18" charset="-120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xmlns="" id="{C801FAB8-3EB5-4419-9775-578264E05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2071" y="6018858"/>
            <a:ext cx="364961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ja-JP" sz="1800" dirty="0">
                <a:latin typeface="+mn-lt"/>
                <a:ea typeface="新細明體" pitchFamily="1" charset="-120"/>
              </a:rPr>
              <a:t>Developed </a:t>
            </a:r>
            <a:r>
              <a:rPr lang="en-US" altLang="ja-JP" sz="1800" dirty="0" smtClean="0">
                <a:latin typeface="+mn-lt"/>
                <a:ea typeface="新細明體" pitchFamily="1" charset="-120"/>
              </a:rPr>
              <a:t>quad-rotor</a:t>
            </a:r>
            <a:r>
              <a:rPr lang="en-US" altLang="ja-JP" sz="1800" dirty="0" smtClean="0">
                <a:latin typeface="+mn-lt"/>
                <a:ea typeface="新細明體" pitchFamily="1" charset="-120"/>
              </a:rPr>
              <a:t> mounted </a:t>
            </a:r>
          </a:p>
          <a:p>
            <a:pPr algn="ctr">
              <a:defRPr/>
            </a:pPr>
            <a:r>
              <a:rPr lang="en-US" altLang="ja-JP" sz="1800" dirty="0" smtClean="0">
                <a:latin typeface="+mn-lt"/>
                <a:ea typeface="新細明體" pitchFamily="1" charset="-120"/>
              </a:rPr>
              <a:t>a </a:t>
            </a:r>
            <a:r>
              <a:rPr lang="en-US" altLang="ja-JP" sz="1800" dirty="0">
                <a:latin typeface="+mn-lt"/>
                <a:ea typeface="新細明體" pitchFamily="1" charset="-120"/>
              </a:rPr>
              <a:t>UWB module </a:t>
            </a:r>
            <a:r>
              <a:rPr lang="en-US" altLang="ja-JP" sz="1800" dirty="0" smtClean="0">
                <a:latin typeface="+mn-lt"/>
                <a:ea typeface="新細明體" pitchFamily="1" charset="-120"/>
              </a:rPr>
              <a:t>and an IMU</a:t>
            </a:r>
            <a:endParaRPr lang="en-US" altLang="ja-JP" sz="1800" dirty="0">
              <a:latin typeface="+mn-lt"/>
              <a:ea typeface="新細明體" pitchFamily="1" charset="-120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730226"/>
            <a:ext cx="4173691" cy="33158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画面に合わせる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新細明體</vt:lpstr>
      <vt:lpstr>新細明體</vt:lpstr>
      <vt:lpstr>Arial</vt:lpstr>
      <vt:lpstr>Blank Presentation</vt:lpstr>
      <vt:lpstr>PowerPoint プレゼンテーション</vt:lpstr>
    </vt:vector>
  </TitlesOfParts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2015-10-06T12:30:38Z</dcterms:created>
  <dcterms:modified xsi:type="dcterms:W3CDTF">2019-11-21T10:35:41Z</dcterms:modified>
</cp:coreProperties>
</file>